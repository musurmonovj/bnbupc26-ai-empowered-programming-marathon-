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FDC23-3B65-4055-84C6-96A04BD24FCC}" type="datetimeFigureOut">
              <a:rPr lang="en-GB" smtClean="0"/>
              <a:t>13/10/2026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1BBFB5-4188-4187-AA38-48B455084EAE}" type="slidenum">
              <a:rPr lang="en-GB" smtClean="0"/>
              <a:t>‹#›</a:t>
            </a:fld>
            <a:endParaRPr lang="en-GB"/>
          </a:p>
        </p:txBody>
      </p:sp>
    </p:spTree>
    <p:extLst>
      <p:ext uri="{BB962C8B-B14F-4D97-AF65-F5344CB8AC3E}">
        <p14:creationId xmlns:p14="http://schemas.microsoft.com/office/powerpoint/2010/main" val="4081264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0:00–0:15 A life becomes a garden</a:t>
            </a:r>
          </a:p>
          <a:p>
            <a:endParaRPr lang="en-GB"/>
          </a:p>
          <a:p>
            <a:r>
              <a:rPr lang="en-GB"/>
              <a:t>Before I show you the garden, I want to give you a place in it. Lethe is my response to “Your Life as a World.” It turns the fragments of a life into flowers and relationships.</a:t>
            </a:r>
          </a:p>
          <a:p>
            <a:endParaRPr lang="en-GB"/>
          </a:p>
          <a:p>
            <a:r>
              <a:rPr lang="en-GB"/>
              <a:t>Stand still for the opening. Look at the audience. Let the picture settle before speaking.</a:t>
            </a:r>
          </a:p>
          <a:p>
            <a:endParaRPr lang="en-GB"/>
          </a:p>
          <a:p>
            <a:r>
              <a:rPr lang="en-GB"/>
              <a:t>Source: Lethe project reference captures in docs/presentation/assets/garden.png.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1</a:t>
            </a:fld>
            <a:endParaRPr lang="en-GB"/>
          </a:p>
        </p:txBody>
      </p:sp>
    </p:spTree>
    <p:extLst>
      <p:ext uri="{BB962C8B-B14F-4D97-AF65-F5344CB8AC3E}">
        <p14:creationId xmlns:p14="http://schemas.microsoft.com/office/powerpoint/2010/main" val="127042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0:15–0:40 A memory of your own</a:t>
            </a:r>
          </a:p>
          <a:p>
            <a:endParaRPr lang="en-GB"/>
          </a:p>
          <a:p>
            <a:r>
              <a:rPr lang="en-GB"/>
              <a:t>Take a moment to think of a memory. You can keep it private. Perhaps it is something someone said, or a place you can still walk through in your mind. What kind of fragment is it? Keep that moment with you while we explore.</a:t>
            </a:r>
          </a:p>
          <a:p>
            <a:endParaRPr lang="en-GB"/>
          </a:p>
          <a:p>
            <a:r>
              <a:rPr lang="en-GB"/>
              <a:t>Leave five seconds for thought. Choose a kind if someone volunteers one. Never ask for a personal story.</a:t>
            </a:r>
          </a:p>
        </p:txBody>
      </p:sp>
      <p:sp>
        <p:nvSpPr>
          <p:cNvPr id="4" name="Slide Number Placeholder 3"/>
          <p:cNvSpPr>
            <a:spLocks noGrp="1"/>
          </p:cNvSpPr>
          <p:nvPr>
            <p:ph type="sldNum" sz="quarter" idx="5"/>
          </p:nvPr>
        </p:nvSpPr>
        <p:spPr/>
        <p:txBody>
          <a:bodyPr/>
          <a:lstStyle/>
          <a:p>
            <a:fld id="{511BBFB5-4188-4187-AA38-48B455084EAE}" type="slidenum">
              <a:rPr lang="en-GB" smtClean="0"/>
              <a:t>2</a:t>
            </a:fld>
            <a:endParaRPr lang="en-GB"/>
          </a:p>
        </p:txBody>
      </p:sp>
    </p:spTree>
    <p:extLst>
      <p:ext uri="{BB962C8B-B14F-4D97-AF65-F5344CB8AC3E}">
        <p14:creationId xmlns:p14="http://schemas.microsoft.com/office/powerpoint/2010/main" val="3348085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0:40–1:05 A fragment takes root</a:t>
            </a:r>
          </a:p>
          <a:p>
            <a:endParaRPr lang="en-GB"/>
          </a:p>
          <a:p>
            <a:r>
              <a:rPr lang="en-GB"/>
              <a:t>A memory begins as a seed. Its words become a flower, with a shape that belongs to that memory. When it opens, it can find other moments that share a person or a place. Growing the world begins with one fragment.</a:t>
            </a:r>
          </a:p>
          <a:p>
            <a:endParaRPr lang="en-GB"/>
          </a:p>
          <a:p>
            <a:r>
              <a:rPr lang="en-GB"/>
              <a:t>Click once to reveal the bloom. Pause. Click again to reveal its first thread. Then advance to the next slide. These captures preview the actual game.</a:t>
            </a:r>
          </a:p>
          <a:p>
            <a:endParaRPr lang="en-GB"/>
          </a:p>
          <a:p>
            <a:r>
              <a:rPr lang="en-GB"/>
              <a:t>Source: Lethe project reference captures in docs/presentation/assets/planting.png, bloom.png, first-thread.png.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3</a:t>
            </a:fld>
            <a:endParaRPr lang="en-GB"/>
          </a:p>
        </p:txBody>
      </p:sp>
    </p:spTree>
    <p:extLst>
      <p:ext uri="{BB962C8B-B14F-4D97-AF65-F5344CB8AC3E}">
        <p14:creationId xmlns:p14="http://schemas.microsoft.com/office/powerpoint/2010/main" val="1793162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1:05–1:40 Grandma Mei’s words</a:t>
            </a:r>
          </a:p>
          <a:p>
            <a:endParaRPr lang="en-GB"/>
          </a:p>
          <a:p>
            <a:r>
              <a:rPr lang="en-GB"/>
              <a:t>Here is one fragment from the fictional example life. Grandma Mei said, “You don’t have to be brave all the time.” A kitchen, a song, and these words might live in separate places on a phone. In this garden, you can see what they share. You can see Grandma Mei across them.</a:t>
            </a:r>
          </a:p>
          <a:p>
            <a:endParaRPr lang="en-GB"/>
          </a:p>
          <a:p>
            <a:r>
              <a:rPr lang="en-GB"/>
              <a:t>Read the quote warmly. Pause. Move your gaze from the flower to the audience rather than reading every label.</a:t>
            </a:r>
          </a:p>
          <a:p>
            <a:endParaRPr lang="en-GB"/>
          </a:p>
          <a:p>
            <a:r>
              <a:rPr lang="en-GB"/>
              <a:t>Source: Lethe project reference captures in docs/presentation/assets/memory.png.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4</a:t>
            </a:fld>
            <a:endParaRPr lang="en-GB"/>
          </a:p>
        </p:txBody>
      </p:sp>
    </p:spTree>
    <p:extLst>
      <p:ext uri="{BB962C8B-B14F-4D97-AF65-F5344CB8AC3E}">
        <p14:creationId xmlns:p14="http://schemas.microsoft.com/office/powerpoint/2010/main" val="3931606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1:40–2:05 What the fragments share</a:t>
            </a:r>
          </a:p>
          <a:p>
            <a:endParaRPr lang="en-GB"/>
          </a:p>
          <a:p>
            <a:r>
              <a:rPr lang="en-GB"/>
              <a:t>These threads make relationships visible. Shared people and places help memories hold each other up. Tending one sends some of that care to its neighbors. A new memory can strengthen a connection that was already part of the life.</a:t>
            </a:r>
          </a:p>
          <a:p>
            <a:endParaRPr lang="en-GB"/>
          </a:p>
          <a:p>
            <a:r>
              <a:rPr lang="en-GB"/>
              <a:t>Click once to reveal the explanation. Point to the actual thread. Speak about shared names, not physical closeness.</a:t>
            </a:r>
          </a:p>
          <a:p>
            <a:endParaRPr lang="en-GB"/>
          </a:p>
          <a:p>
            <a:r>
              <a:rPr lang="en-GB"/>
              <a:t>Source: Lethe project reference captures in docs/presentation/assets/reveal.png.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5</a:t>
            </a:fld>
            <a:endParaRPr lang="en-GB"/>
          </a:p>
        </p:txBody>
      </p:sp>
    </p:spTree>
    <p:extLst>
      <p:ext uri="{BB962C8B-B14F-4D97-AF65-F5344CB8AC3E}">
        <p14:creationId xmlns:p14="http://schemas.microsoft.com/office/powerpoint/2010/main" val="2130000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2:05–2:35 One light and your choice</a:t>
            </a:r>
          </a:p>
          <a:p>
            <a:endParaRPr lang="en-GB"/>
          </a:p>
          <a:p>
            <a:r>
              <a:rPr lang="en-GB"/>
              <a:t>There is one light left in this episode. Would you tend Grandma Mei’s words, letting care reach her connected memories? Or would you tend the library rooftop, a place that matters on its own? Raise a hand for the one you would choose. I will carry your choice into the garden.</a:t>
            </a:r>
          </a:p>
          <a:p>
            <a:endParaRPr lang="en-GB"/>
          </a:p>
          <a:p>
            <a:r>
              <a:rPr lang="en-GB"/>
              <a:t>Ask for raised hands once, then stop talking. Carry the room's choice into the live garden. Either answer is meaningful. If the room stays quiet, choose Grandma Mei and proceed.</a:t>
            </a:r>
          </a:p>
        </p:txBody>
      </p:sp>
      <p:sp>
        <p:nvSpPr>
          <p:cNvPr id="4" name="Slide Number Placeholder 3"/>
          <p:cNvSpPr>
            <a:spLocks noGrp="1"/>
          </p:cNvSpPr>
          <p:nvPr>
            <p:ph type="sldNum" sz="quarter" idx="5"/>
          </p:nvPr>
        </p:nvSpPr>
        <p:spPr/>
        <p:txBody>
          <a:bodyPr/>
          <a:lstStyle/>
          <a:p>
            <a:fld id="{511BBFB5-4188-4187-AA38-48B455084EAE}" type="slidenum">
              <a:rPr lang="en-GB" smtClean="0"/>
              <a:t>6</a:t>
            </a:fld>
            <a:endParaRPr lang="en-GB"/>
          </a:p>
        </p:txBody>
      </p:sp>
    </p:spTree>
    <p:extLst>
      <p:ext uri="{BB962C8B-B14F-4D97-AF65-F5344CB8AC3E}">
        <p14:creationId xmlns:p14="http://schemas.microsoft.com/office/powerpoint/2010/main" val="3231575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2:35–4:05 The living garden</a:t>
            </a:r>
          </a:p>
          <a:p>
            <a:endParaRPr lang="en-GB"/>
          </a:p>
          <a:p>
            <a:r>
              <a:rPr lang="en-GB"/>
              <a:t>Let’s see what that choice does. I will tend the memory you chose, plant a related fragment, and let a season pass. Watch the light reach its neighbors. Then watch the garden change.</a:t>
            </a:r>
          </a:p>
          <a:p>
            <a:endParaRPr lang="en-GB"/>
          </a:p>
          <a:p>
            <a:r>
              <a:rPr lang="en-GB"/>
              <a:t>Click open the garden. Switch back to PowerPoint after the live visit. Allow 90 seconds in the showcase or 60 seconds in the contest cut. Open your local recording separately if needed, and explain that its route follows a fixed choice.</a:t>
            </a:r>
          </a:p>
          <a:p>
            <a:endParaRPr lang="en-GB"/>
          </a:p>
          <a:p>
            <a:r>
              <a:rPr lang="en-GB"/>
              <a:t>Source: Lethe project reference captures in docs/presentation/assets/first-thread.png.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7</a:t>
            </a:fld>
            <a:endParaRPr lang="en-GB"/>
          </a:p>
        </p:txBody>
      </p:sp>
    </p:spTree>
    <p:extLst>
      <p:ext uri="{BB962C8B-B14F-4D97-AF65-F5344CB8AC3E}">
        <p14:creationId xmlns:p14="http://schemas.microsoft.com/office/powerpoint/2010/main" val="4018573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4:05–4:30 A season passes</a:t>
            </a:r>
          </a:p>
          <a:p>
            <a:endParaRPr lang="en-GB"/>
          </a:p>
          <a:p>
            <a:r>
              <a:rPr lang="en-GB"/>
              <a:t>The garden changes. Some flowers keep their color. Some become outlines. Care and connection affect what remains, and the spaces that grow quiet become part of the world too.</a:t>
            </a:r>
          </a:p>
          <a:p>
            <a:endParaRPr lang="en-GB"/>
          </a:p>
          <a:p>
            <a:r>
              <a:rPr lang="en-GB"/>
              <a:t>Click once for the three-second dusk reveal. Describe the actual outcome from the garden. This comparison illustrates the reference garden, rather than simulating the audience choice.</a:t>
            </a:r>
          </a:p>
          <a:p>
            <a:endParaRPr lang="en-GB"/>
          </a:p>
          <a:p>
            <a:r>
              <a:rPr lang="en-GB"/>
              <a:t>Source: Lethe project reference captures in docs/presentation/assets/garden.png, dusk.png.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8</a:t>
            </a:fld>
            <a:endParaRPr lang="en-GB"/>
          </a:p>
        </p:txBody>
      </p:sp>
    </p:spTree>
    <p:extLst>
      <p:ext uri="{BB962C8B-B14F-4D97-AF65-F5344CB8AC3E}">
        <p14:creationId xmlns:p14="http://schemas.microsoft.com/office/powerpoint/2010/main" val="1745227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4:30–4:45 The quiet space</a:t>
            </a:r>
          </a:p>
          <a:p>
            <a:endParaRPr lang="en-GB"/>
          </a:p>
          <a:p>
            <a:r>
              <a:rPr lang="en-GB"/>
              <a:t>A lost flower leaves a seed. Its original words remain, and we can return to it. For now, I leave the space quiet.</a:t>
            </a:r>
          </a:p>
          <a:p>
            <a:endParaRPr lang="en-GB"/>
          </a:p>
          <a:p>
            <a:r>
              <a:rPr lang="en-GB"/>
              <a:t>Hold four seconds of silence. If the room kept the rooftop alive, discuss another actual lost seed or loss in general. Do not claim their rooftop disappeared.</a:t>
            </a:r>
          </a:p>
          <a:p>
            <a:endParaRPr lang="en-GB"/>
          </a:p>
          <a:p>
            <a:r>
              <a:rPr lang="en-GB"/>
              <a:t>Source: Lethe project reference captures in docs/presentation/assets/loss.png.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9</a:t>
            </a:fld>
            <a:endParaRPr lang="en-GB"/>
          </a:p>
        </p:txBody>
      </p:sp>
    </p:spTree>
    <p:extLst>
      <p:ext uri="{BB962C8B-B14F-4D97-AF65-F5344CB8AC3E}">
        <p14:creationId xmlns:p14="http://schemas.microsoft.com/office/powerpoint/2010/main" val="3786029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4:45–5:10 What holds this life</a:t>
            </a:r>
          </a:p>
          <a:p>
            <a:endParaRPr lang="en-GB"/>
          </a:p>
          <a:p>
            <a:r>
              <a:rPr lang="en-GB"/>
              <a:t>When the camera rises, the world becomes a portrait. You can see the people and places that hold the memories together. Another person might care for different moments. Their attention would give this same life another shape.</a:t>
            </a:r>
          </a:p>
          <a:p>
            <a:endParaRPr lang="en-GB"/>
          </a:p>
          <a:p>
            <a:r>
              <a:rPr lang="en-GB"/>
              <a:t>Click once to reveal the relationship names after the picture settles. Keep your voice quieter than at the opening.</a:t>
            </a:r>
          </a:p>
          <a:p>
            <a:endParaRPr lang="en-GB"/>
          </a:p>
          <a:p>
            <a:r>
              <a:rPr lang="en-GB"/>
              <a:t>Source: Lethe project reference captures in docs/presentation/assets/reveal.png.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10</a:t>
            </a:fld>
            <a:endParaRPr lang="en-GB"/>
          </a:p>
        </p:txBody>
      </p:sp>
    </p:spTree>
    <p:extLst>
      <p:ext uri="{BB962C8B-B14F-4D97-AF65-F5344CB8AC3E}">
        <p14:creationId xmlns:p14="http://schemas.microsoft.com/office/powerpoint/2010/main" val="2597924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5:10–5:35 A world you can make your own</a:t>
            </a:r>
          </a:p>
          <a:p>
            <a:endParaRPr lang="en-GB"/>
          </a:p>
          <a:p>
            <a:r>
              <a:rPr lang="en-GB"/>
              <a:t>The example life is fictional. You can plant your own memories too. Flowers keep a stable identity, and shared names form relationships. Your personal garden lives in this browser. Planting works with local tagging, with an optional provider for better suggestions.</a:t>
            </a:r>
          </a:p>
          <a:p>
            <a:endParaRPr lang="en-GB"/>
          </a:p>
          <a:p>
            <a:r>
              <a:rPr lang="en-GB"/>
              <a:t>Keep this brief. Answer implementation questions afterward. Do not claim provider-enabled tagging keeps every word on the device.</a:t>
            </a:r>
          </a:p>
        </p:txBody>
      </p:sp>
      <p:sp>
        <p:nvSpPr>
          <p:cNvPr id="4" name="Slide Number Placeholder 3"/>
          <p:cNvSpPr>
            <a:spLocks noGrp="1"/>
          </p:cNvSpPr>
          <p:nvPr>
            <p:ph type="sldNum" sz="quarter" idx="5"/>
          </p:nvPr>
        </p:nvSpPr>
        <p:spPr/>
        <p:txBody>
          <a:bodyPr/>
          <a:lstStyle/>
          <a:p>
            <a:fld id="{511BBFB5-4188-4187-AA38-48B455084EAE}" type="slidenum">
              <a:rPr lang="en-GB" smtClean="0"/>
              <a:t>11</a:t>
            </a:fld>
            <a:endParaRPr lang="en-GB"/>
          </a:p>
        </p:txBody>
      </p:sp>
    </p:spTree>
    <p:extLst>
      <p:ext uri="{BB962C8B-B14F-4D97-AF65-F5344CB8AC3E}">
        <p14:creationId xmlns:p14="http://schemas.microsoft.com/office/powerpoint/2010/main" val="3245657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5:35–6:00 What will you carry</a:t>
            </a:r>
          </a:p>
          <a:p>
            <a:endParaRPr lang="en-GB"/>
          </a:p>
          <a:p>
            <a:r>
              <a:rPr lang="en-GB"/>
              <a:t>Return to the memory you imagined at the beginning. What would you grow around it? You cannot keep every moment in bloom. What you tend gives the garden its shape. Try Lethe. If it stays with you, I would appreciate your vote.</a:t>
            </a:r>
          </a:p>
          <a:p>
            <a:endParaRPr lang="en-GB"/>
          </a:p>
          <a:p>
            <a:r>
              <a:rPr lang="en-GB"/>
              <a:t>End on the audience’s own imagined memory. Say the voting invitation once. Hold the final view.</a:t>
            </a:r>
          </a:p>
          <a:p>
            <a:endParaRPr lang="en-GB"/>
          </a:p>
          <a:p>
            <a:r>
              <a:rPr lang="en-GB"/>
              <a:t>Source: Lethe project reference captures in docs/presentation/assets/dusk.png. The example life is fictional. Verify the actual episode outcome before presenting.</a:t>
            </a:r>
          </a:p>
          <a:p>
            <a:endParaRPr lang="en-GB"/>
          </a:p>
          <a:p>
            <a:r>
              <a:rPr lang="en-GB"/>
              <a:t>Invite the audience to try Lethe and give the organizer's actual voting link verbally or add it here when available. No voting destination is invented.</a:t>
            </a:r>
          </a:p>
        </p:txBody>
      </p:sp>
      <p:sp>
        <p:nvSpPr>
          <p:cNvPr id="4" name="Slide Number Placeholder 3"/>
          <p:cNvSpPr>
            <a:spLocks noGrp="1"/>
          </p:cNvSpPr>
          <p:nvPr>
            <p:ph type="sldNum" sz="quarter" idx="5"/>
          </p:nvPr>
        </p:nvSpPr>
        <p:spPr/>
        <p:txBody>
          <a:bodyPr/>
          <a:lstStyle/>
          <a:p>
            <a:fld id="{511BBFB5-4188-4187-AA38-48B455084EAE}" type="slidenum">
              <a:rPr lang="en-GB" smtClean="0"/>
              <a:t>12</a:t>
            </a:fld>
            <a:endParaRPr lang="en-GB"/>
          </a:p>
        </p:txBody>
      </p:sp>
    </p:spTree>
    <p:extLst>
      <p:ext uri="{BB962C8B-B14F-4D97-AF65-F5344CB8AC3E}">
        <p14:creationId xmlns:p14="http://schemas.microsoft.com/office/powerpoint/2010/main" val="1572882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92699-E62E-489E-A978-AA2FEEB882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450DE01-D72B-40C2-8637-28A38F01E0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21AEF1F-C75C-4266-8479-77DC4AA924B0}"/>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ABE21AEB-677C-496D-898C-B245F8290D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C8E0D3-569B-4949-97D1-C7084A6AD715}"/>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272524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C9EC-F974-41DF-B1B9-03859A70DF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ADE7F3-B608-4826-B74A-24F699B601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535FAD-B19E-43AA-976D-76A7622306CC}"/>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61A8C777-06FE-4CBA-97CA-4B90B36310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DC1293-BB8C-4391-BEBA-67BC05CEB24E}"/>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2998868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31ED5-87D4-44E4-96E7-BCE3D9897D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6AC1754-C0C1-4820-8773-8B0C3557E1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0AC3FB-60A1-41EA-AB4B-79EE84FD1252}"/>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1A466999-18D8-45EE-AA64-E061D92883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F4EFCB-014E-4E67-A77F-218D3E6DA3E7}"/>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33020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EDBD-CB30-4A72-9C30-11CBD892685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D513E8-C73F-4517-B340-24DBADADD2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8386137-2487-4C8E-B6DB-2706E8168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1466646-FCA8-4786-BBBB-7B9C20F93DF6}"/>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6" name="Footer Placeholder 5">
            <a:extLst>
              <a:ext uri="{FF2B5EF4-FFF2-40B4-BE49-F238E27FC236}">
                <a16:creationId xmlns:a16="http://schemas.microsoft.com/office/drawing/2014/main" id="{34A1A35E-FF06-44D5-94C1-612CCCD62D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067CD4-2862-4F71-A955-2378C46F1598}"/>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408683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3814-A451-403B-BE0B-92803DDBB8C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E31F050-24B1-4BCC-A2E4-731850CC3E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6C0E2C-FF9C-42D1-BA69-3612A7B639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F0E7D68-6100-4996-9776-5A8A1D8C39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885C06-28A5-40A6-89AE-CF94206F06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841CBA8-217D-47B1-A244-F58A551CD040}"/>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8" name="Footer Placeholder 7">
            <a:extLst>
              <a:ext uri="{FF2B5EF4-FFF2-40B4-BE49-F238E27FC236}">
                <a16:creationId xmlns:a16="http://schemas.microsoft.com/office/drawing/2014/main" id="{92E18E62-C45E-4E25-BE89-4025E9E7CB0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8958409-74C3-4108-988D-63AE623F39DD}"/>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1372623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6A630-1959-4980-B775-F7BF84E9486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0B3CF91-A5AF-4C02-83F2-FF998F1E29F7}"/>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4" name="Footer Placeholder 3">
            <a:extLst>
              <a:ext uri="{FF2B5EF4-FFF2-40B4-BE49-F238E27FC236}">
                <a16:creationId xmlns:a16="http://schemas.microsoft.com/office/drawing/2014/main" id="{051F5536-ED12-445A-84F7-7DDAD0B98FC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CA7B98A-ED41-4E58-A22E-60953E91BCA5}"/>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509315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0CD44-1AF1-4315-8293-CAB1222BCF20}"/>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3" name="Footer Placeholder 2">
            <a:extLst>
              <a:ext uri="{FF2B5EF4-FFF2-40B4-BE49-F238E27FC236}">
                <a16:creationId xmlns:a16="http://schemas.microsoft.com/office/drawing/2014/main" id="{CF9DDDCE-0BD1-4C52-A927-592FBF3FEFD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094D981-1652-4E96-BB2F-8EB4A82687AF}"/>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14797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F7E3-0C9C-499C-9A2B-0500341857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245B51-DEA3-4F90-990F-4B246E014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6A792A2-14B9-4957-85E5-622494DEB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B006BB-7C97-497A-AA6D-FD3FE7E269DF}"/>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6" name="Footer Placeholder 5">
            <a:extLst>
              <a:ext uri="{FF2B5EF4-FFF2-40B4-BE49-F238E27FC236}">
                <a16:creationId xmlns:a16="http://schemas.microsoft.com/office/drawing/2014/main" id="{B90D31EA-4266-4788-9482-824E29F586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DC85411-B0B5-4797-B915-E981CE5AE670}"/>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886039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3D49-22E0-4913-8855-A224754E4F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F60CF3C-49FD-410C-BF52-A633C86BF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1317602-0A37-4F7A-92AE-659B11EC2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72B200-7445-4BDC-A241-93772FCAD1B3}"/>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6" name="Footer Placeholder 5">
            <a:extLst>
              <a:ext uri="{FF2B5EF4-FFF2-40B4-BE49-F238E27FC236}">
                <a16:creationId xmlns:a16="http://schemas.microsoft.com/office/drawing/2014/main" id="{18EACAB2-D05B-4552-A4B5-66C0E2A394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252158-9E18-42DC-9684-5D4F29323DA5}"/>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74702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CF511-9400-44F0-823E-5EC098C9C0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49DC9DB-5C40-4705-BD77-0F0C39EA6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1D33F2-5319-443C-AD9F-01215B4014BC}"/>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E8F79F10-8270-4620-B993-6A62B2C94A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0F7948-65C8-4A25-9CE2-18EDE0543C7B}"/>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72359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0BCD28-7D04-4307-9638-CEA66D7A34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392BB0-0BBE-47F5-9BE7-71FA12F286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0384F26-B812-44D7-999A-4D7C832882F3}"/>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97E611FC-05B1-492B-A561-C34E4E830E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8608B8-61C6-4004-84EA-BA4EB0FFE0E6}"/>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2200875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46D5F-30CF-4BCA-AE31-7517DFA5A6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5AC8A72-FD8D-492A-A573-60DA2075DA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E0DD6E-54C2-4622-809E-2A4975C2B2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8F02CA85-BED6-479B-9C61-8D079167D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75C1B69-DD2C-4B63-A1DC-3D9762A7C5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6BBA4C-6808-44A4-9085-334699AB4512}" type="slidenum">
              <a:rPr lang="en-GB" smtClean="0"/>
              <a:t>‹#›</a:t>
            </a:fld>
            <a:endParaRPr lang="en-GB"/>
          </a:p>
        </p:txBody>
      </p:sp>
    </p:spTree>
    <p:extLst>
      <p:ext uri="{BB962C8B-B14F-4D97-AF65-F5344CB8AC3E}">
        <p14:creationId xmlns:p14="http://schemas.microsoft.com/office/powerpoint/2010/main" val="926760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lethe-nine.vercel.app/?demo=pla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lethe-nine.vercel.app/?demo=pla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05B455BF-6D70-4AE3-904E-4F06522412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5D0F0750-8FE9-421E-B067-88DEB0FF3745}"/>
              </a:ext>
            </a:extLst>
          </p:cNvPr>
          <p:cNvSpPr txBox="1"/>
          <p:nvPr/>
        </p:nvSpPr>
        <p:spPr>
          <a:xfrm>
            <a:off x="731520" y="9753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your life as a world</a:t>
            </a:r>
          </a:p>
        </p:txBody>
      </p:sp>
      <p:sp>
        <p:nvSpPr>
          <p:cNvPr id="5" name="editable 2">
            <a:extLst>
              <a:ext uri="{FF2B5EF4-FFF2-40B4-BE49-F238E27FC236}">
                <a16:creationId xmlns:a16="http://schemas.microsoft.com/office/drawing/2014/main" id="{01AB0812-2EEF-43FC-91C7-BD740F0D5167}"/>
              </a:ext>
            </a:extLst>
          </p:cNvPr>
          <p:cNvSpPr txBox="1"/>
          <p:nvPr/>
        </p:nvSpPr>
        <p:spPr>
          <a:xfrm>
            <a:off x="685800" y="1272540"/>
            <a:ext cx="65" cy="276999"/>
          </a:xfrm>
          <a:prstGeom prst="rect">
            <a:avLst/>
          </a:prstGeom>
          <a:noFill/>
        </p:spPr>
        <p:txBody>
          <a:bodyPr vert="horz" wrap="none" lIns="0" tIns="0" rIns="0" bIns="0" rtlCol="0" anchor="t">
            <a:noAutofit/>
          </a:bodyPr>
          <a:lstStyle/>
          <a:p>
            <a:r>
              <a:rPr lang="en-GB" sz="9720" spc="-420">
                <a:solidFill>
                  <a:srgbClr val="F2EDE3"/>
                </a:solidFill>
                <a:latin typeface="Georgia" panose="02040502050405020303" pitchFamily="18" charset="0"/>
              </a:rPr>
              <a:t>lethe</a:t>
            </a:r>
          </a:p>
        </p:txBody>
      </p:sp>
      <p:sp>
        <p:nvSpPr>
          <p:cNvPr id="6" name="editable 3">
            <a:extLst>
              <a:ext uri="{FF2B5EF4-FFF2-40B4-BE49-F238E27FC236}">
                <a16:creationId xmlns:a16="http://schemas.microsoft.com/office/drawing/2014/main" id="{DC540304-6706-4DA0-870D-29A45A66CAF2}"/>
              </a:ext>
            </a:extLst>
          </p:cNvPr>
          <p:cNvSpPr txBox="1"/>
          <p:nvPr/>
        </p:nvSpPr>
        <p:spPr>
          <a:xfrm>
            <a:off x="731520" y="2825115"/>
            <a:ext cx="65" cy="276999"/>
          </a:xfrm>
          <a:prstGeom prst="rect">
            <a:avLst/>
          </a:prstGeom>
          <a:noFill/>
        </p:spPr>
        <p:txBody>
          <a:bodyPr vert="horz" wrap="none" lIns="0" tIns="0" rIns="0" bIns="0" rtlCol="0" anchor="t">
            <a:noAutofit/>
          </a:bodyPr>
          <a:lstStyle/>
          <a:p>
            <a:r>
              <a:rPr lang="en-GB" sz="2040">
                <a:solidFill>
                  <a:srgbClr val="F2EDE3"/>
                </a:solidFill>
                <a:latin typeface="Segoe UI" panose="020B0502040204020203" pitchFamily="34" charset="0"/>
              </a:rPr>
              <a:t>a life becomes a garden</a:t>
            </a:r>
          </a:p>
        </p:txBody>
      </p:sp>
      <p:sp>
        <p:nvSpPr>
          <p:cNvPr id="7" name="editable 4">
            <a:extLst>
              <a:ext uri="{FF2B5EF4-FFF2-40B4-BE49-F238E27FC236}">
                <a16:creationId xmlns:a16="http://schemas.microsoft.com/office/drawing/2014/main" id="{7B8C8AD9-4A82-4420-AF5A-A302B13256A6}"/>
              </a:ext>
            </a:extLst>
          </p:cNvPr>
          <p:cNvSpPr txBox="1"/>
          <p:nvPr/>
        </p:nvSpPr>
        <p:spPr>
          <a:xfrm>
            <a:off x="731520" y="5951220"/>
            <a:ext cx="65" cy="276999"/>
          </a:xfrm>
          <a:prstGeom prst="rect">
            <a:avLst/>
          </a:prstGeom>
          <a:noFill/>
        </p:spPr>
        <p:txBody>
          <a:bodyPr vert="horz" wrap="none" lIns="0" tIns="0" rIns="0" bIns="0" rtlCol="0" anchor="t">
            <a:noAutofit/>
          </a:bodyPr>
          <a:lstStyle/>
          <a:p>
            <a:r>
              <a:rPr lang="en-GB" sz="1320">
                <a:solidFill>
                  <a:srgbClr val="AAB3C3"/>
                </a:solidFill>
                <a:latin typeface="Segoe UI" panose="020B0502040204020203" pitchFamily="34" charset="0"/>
              </a:rPr>
              <a:t>what would you choose to keep in bloom?</a:t>
            </a:r>
          </a:p>
        </p:txBody>
      </p:sp>
    </p:spTree>
    <p:extLst>
      <p:ext uri="{BB962C8B-B14F-4D97-AF65-F5344CB8AC3E}">
        <p14:creationId xmlns:p14="http://schemas.microsoft.com/office/powerpoint/2010/main" val="221738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53D7977-679F-4B36-B415-483F92E2B2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D80BBD9C-AACB-4F15-B345-C929886F6248}"/>
              </a:ext>
            </a:extLst>
          </p:cNvPr>
          <p:cNvSpPr txBox="1"/>
          <p:nvPr/>
        </p:nvSpPr>
        <p:spPr>
          <a:xfrm>
            <a:off x="731520" y="118872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moment for the room</a:t>
            </a:r>
          </a:p>
        </p:txBody>
      </p:sp>
      <p:sp>
        <p:nvSpPr>
          <p:cNvPr id="5" name="editable 2">
            <a:extLst>
              <a:ext uri="{FF2B5EF4-FFF2-40B4-BE49-F238E27FC236}">
                <a16:creationId xmlns:a16="http://schemas.microsoft.com/office/drawing/2014/main" id="{38F6AF51-1DEB-46E3-882A-5B392440BB67}"/>
              </a:ext>
            </a:extLst>
          </p:cNvPr>
          <p:cNvSpPr txBox="1"/>
          <p:nvPr/>
        </p:nvSpPr>
        <p:spPr>
          <a:xfrm>
            <a:off x="731520" y="1577340"/>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hold one memory</a:t>
            </a:r>
          </a:p>
        </p:txBody>
      </p:sp>
      <p:sp>
        <p:nvSpPr>
          <p:cNvPr id="6" name="editable 3">
            <a:extLst>
              <a:ext uri="{FF2B5EF4-FFF2-40B4-BE49-F238E27FC236}">
                <a16:creationId xmlns:a16="http://schemas.microsoft.com/office/drawing/2014/main" id="{02CEBB2E-4008-46E3-8D3D-09E98BF289BB}"/>
              </a:ext>
            </a:extLst>
          </p:cNvPr>
          <p:cNvSpPr txBox="1"/>
          <p:nvPr/>
        </p:nvSpPr>
        <p:spPr>
          <a:xfrm>
            <a:off x="731520" y="2390299"/>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in your mind</a:t>
            </a:r>
          </a:p>
        </p:txBody>
      </p:sp>
      <p:sp>
        <p:nvSpPr>
          <p:cNvPr id="7" name="editable 4">
            <a:extLst>
              <a:ext uri="{FF2B5EF4-FFF2-40B4-BE49-F238E27FC236}">
                <a16:creationId xmlns:a16="http://schemas.microsoft.com/office/drawing/2014/main" id="{0174DB18-02A9-4729-B78A-9D2E2A8CC228}"/>
              </a:ext>
            </a:extLst>
          </p:cNvPr>
          <p:cNvSpPr txBox="1"/>
          <p:nvPr/>
        </p:nvSpPr>
        <p:spPr>
          <a:xfrm>
            <a:off x="731520" y="3485197"/>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you can keep it to yourself.</a:t>
            </a:r>
          </a:p>
        </p:txBody>
      </p:sp>
      <p:sp>
        <p:nvSpPr>
          <p:cNvPr id="8" name="editable 5">
            <a:extLst>
              <a:ext uri="{FF2B5EF4-FFF2-40B4-BE49-F238E27FC236}">
                <a16:creationId xmlns:a16="http://schemas.microsoft.com/office/drawing/2014/main" id="{4B038377-2955-4A7A-94DB-51935BD9D3F5}"/>
              </a:ext>
            </a:extLst>
          </p:cNvPr>
          <p:cNvSpPr txBox="1"/>
          <p:nvPr/>
        </p:nvSpPr>
        <p:spPr>
          <a:xfrm>
            <a:off x="731520" y="3827621"/>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what kind of fragment is it?</a:t>
            </a:r>
          </a:p>
        </p:txBody>
      </p:sp>
      <p:sp>
        <p:nvSpPr>
          <p:cNvPr id="9" name="editable 6">
            <a:extLst>
              <a:ext uri="{FF2B5EF4-FFF2-40B4-BE49-F238E27FC236}">
                <a16:creationId xmlns:a16="http://schemas.microsoft.com/office/drawing/2014/main" id="{AA6F3D37-1766-49B8-977A-F76DFBF17F79}"/>
              </a:ext>
            </a:extLst>
          </p:cNvPr>
          <p:cNvSpPr txBox="1"/>
          <p:nvPr/>
        </p:nvSpPr>
        <p:spPr>
          <a:xfrm>
            <a:off x="731520"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sentence</a:t>
            </a:r>
          </a:p>
        </p:txBody>
      </p:sp>
      <p:sp>
        <p:nvSpPr>
          <p:cNvPr id="10" name="editable 7">
            <a:extLst>
              <a:ext uri="{FF2B5EF4-FFF2-40B4-BE49-F238E27FC236}">
                <a16:creationId xmlns:a16="http://schemas.microsoft.com/office/drawing/2014/main" id="{8904AD06-BB73-45CE-B9B9-21448A3CC06E}"/>
              </a:ext>
            </a:extLst>
          </p:cNvPr>
          <p:cNvSpPr txBox="1"/>
          <p:nvPr/>
        </p:nvSpPr>
        <p:spPr>
          <a:xfrm>
            <a:off x="1963817"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song</a:t>
            </a:r>
          </a:p>
        </p:txBody>
      </p:sp>
      <p:sp>
        <p:nvSpPr>
          <p:cNvPr id="11" name="editable 8">
            <a:extLst>
              <a:ext uri="{FF2B5EF4-FFF2-40B4-BE49-F238E27FC236}">
                <a16:creationId xmlns:a16="http://schemas.microsoft.com/office/drawing/2014/main" id="{0E8A1427-B3B2-4F0F-BAB2-F1EA68D756B3}"/>
              </a:ext>
            </a:extLst>
          </p:cNvPr>
          <p:cNvSpPr txBox="1"/>
          <p:nvPr/>
        </p:nvSpPr>
        <p:spPr>
          <a:xfrm>
            <a:off x="2860715"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place</a:t>
            </a:r>
          </a:p>
        </p:txBody>
      </p:sp>
      <p:sp>
        <p:nvSpPr>
          <p:cNvPr id="12" name="editable 9">
            <a:extLst>
              <a:ext uri="{FF2B5EF4-FFF2-40B4-BE49-F238E27FC236}">
                <a16:creationId xmlns:a16="http://schemas.microsoft.com/office/drawing/2014/main" id="{9D8CADD1-E83C-4597-8CD7-83EDB67032AC}"/>
              </a:ext>
            </a:extLst>
          </p:cNvPr>
          <p:cNvSpPr txBox="1"/>
          <p:nvPr/>
        </p:nvSpPr>
        <p:spPr>
          <a:xfrm>
            <a:off x="3787854"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photograph</a:t>
            </a:r>
          </a:p>
        </p:txBody>
      </p:sp>
      <p:sp>
        <p:nvSpPr>
          <p:cNvPr id="13" name="editable 10">
            <a:extLst>
              <a:ext uri="{FF2B5EF4-FFF2-40B4-BE49-F238E27FC236}">
                <a16:creationId xmlns:a16="http://schemas.microsoft.com/office/drawing/2014/main" id="{6DEF21C2-6B2A-4064-BB83-F5E00C0E644F}"/>
              </a:ext>
            </a:extLst>
          </p:cNvPr>
          <p:cNvSpPr txBox="1"/>
          <p:nvPr/>
        </p:nvSpPr>
        <p:spPr>
          <a:xfrm>
            <a:off x="731520" y="5229225"/>
            <a:ext cx="65" cy="276999"/>
          </a:xfrm>
          <a:prstGeom prst="rect">
            <a:avLst/>
          </a:prstGeom>
          <a:noFill/>
        </p:spPr>
        <p:txBody>
          <a:bodyPr vert="horz" wrap="none" lIns="0" tIns="0" rIns="0" bIns="0" rtlCol="0" anchor="t">
            <a:noAutofit/>
          </a:bodyPr>
          <a:lstStyle/>
          <a:p>
            <a:r>
              <a:rPr lang="en-GB" sz="2160">
                <a:solidFill>
                  <a:srgbClr val="F1CE94"/>
                </a:solidFill>
                <a:latin typeface="Georgia" panose="02040502050405020303" pitchFamily="18" charset="0"/>
              </a:rPr>
              <a:t>someone’s voice. a familiar room. one ordinary moment.</a:t>
            </a:r>
          </a:p>
        </p:txBody>
      </p:sp>
    </p:spTree>
    <p:extLst>
      <p:ext uri="{BB962C8B-B14F-4D97-AF65-F5344CB8AC3E}">
        <p14:creationId xmlns:p14="http://schemas.microsoft.com/office/powerpoint/2010/main" val="306318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975822E4-0610-487E-B07D-E5606E542B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image reveal plant-bloom">
            <a:extLst>
              <a:ext uri="{FF2B5EF4-FFF2-40B4-BE49-F238E27FC236}">
                <a16:creationId xmlns:a16="http://schemas.microsoft.com/office/drawing/2014/main" id="{679E79E7-9830-4D89-92D9-65CD140B925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image reveal plant-first-thread">
            <a:extLst>
              <a:ext uri="{FF2B5EF4-FFF2-40B4-BE49-F238E27FC236}">
                <a16:creationId xmlns:a16="http://schemas.microsoft.com/office/drawing/2014/main" id="{1BF8E9D2-DFF2-4331-BFC1-5663AA043CD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editable 1">
            <a:extLst>
              <a:ext uri="{FF2B5EF4-FFF2-40B4-BE49-F238E27FC236}">
                <a16:creationId xmlns:a16="http://schemas.microsoft.com/office/drawing/2014/main" id="{45F62EDB-00A5-4414-A2AC-2AA73033C0FD}"/>
              </a:ext>
            </a:extLst>
          </p:cNvPr>
          <p:cNvSpPr txBox="1"/>
          <p:nvPr/>
        </p:nvSpPr>
        <p:spPr>
          <a:xfrm>
            <a:off x="731520" y="7162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memory becomes a place</a:t>
            </a:r>
          </a:p>
        </p:txBody>
      </p:sp>
      <p:sp>
        <p:nvSpPr>
          <p:cNvPr id="9" name="editable 2">
            <a:extLst>
              <a:ext uri="{FF2B5EF4-FFF2-40B4-BE49-F238E27FC236}">
                <a16:creationId xmlns:a16="http://schemas.microsoft.com/office/drawing/2014/main" id="{9625D154-596A-4ADA-AAF3-A0F4CD6C7357}"/>
              </a:ext>
            </a:extLst>
          </p:cNvPr>
          <p:cNvSpPr txBox="1"/>
          <p:nvPr/>
        </p:nvSpPr>
        <p:spPr>
          <a:xfrm>
            <a:off x="731520" y="1104900"/>
            <a:ext cx="65" cy="276999"/>
          </a:xfrm>
          <a:prstGeom prst="rect">
            <a:avLst/>
          </a:prstGeom>
          <a:noFill/>
        </p:spPr>
        <p:txBody>
          <a:bodyPr vert="horz" wrap="none" lIns="0" tIns="0" rIns="0" bIns="0" rtlCol="0" anchor="t">
            <a:noAutofit/>
          </a:bodyPr>
          <a:lstStyle/>
          <a:p>
            <a:r>
              <a:rPr lang="en-GB" sz="4680" spc="-120">
                <a:solidFill>
                  <a:srgbClr val="F2EDE3"/>
                </a:solidFill>
                <a:latin typeface="Georgia" panose="02040502050405020303" pitchFamily="18" charset="0"/>
              </a:rPr>
              <a:t>a fragment</a:t>
            </a:r>
          </a:p>
        </p:txBody>
      </p:sp>
      <p:sp>
        <p:nvSpPr>
          <p:cNvPr id="10" name="editable 3">
            <a:extLst>
              <a:ext uri="{FF2B5EF4-FFF2-40B4-BE49-F238E27FC236}">
                <a16:creationId xmlns:a16="http://schemas.microsoft.com/office/drawing/2014/main" id="{67D7F8AE-9C18-467B-BD81-17EDCC057C13}"/>
              </a:ext>
            </a:extLst>
          </p:cNvPr>
          <p:cNvSpPr txBox="1"/>
          <p:nvPr/>
        </p:nvSpPr>
        <p:spPr>
          <a:xfrm>
            <a:off x="731520" y="1758672"/>
            <a:ext cx="65" cy="276999"/>
          </a:xfrm>
          <a:prstGeom prst="rect">
            <a:avLst/>
          </a:prstGeom>
          <a:noFill/>
        </p:spPr>
        <p:txBody>
          <a:bodyPr vert="horz" wrap="none" lIns="0" tIns="0" rIns="0" bIns="0" rtlCol="0" anchor="t">
            <a:noAutofit/>
          </a:bodyPr>
          <a:lstStyle/>
          <a:p>
            <a:r>
              <a:rPr lang="en-GB" sz="4680" spc="-120">
                <a:solidFill>
                  <a:srgbClr val="F2EDE3"/>
                </a:solidFill>
                <a:latin typeface="Georgia" panose="02040502050405020303" pitchFamily="18" charset="0"/>
              </a:rPr>
              <a:t>takes root</a:t>
            </a:r>
          </a:p>
        </p:txBody>
      </p:sp>
      <p:sp>
        <p:nvSpPr>
          <p:cNvPr id="11" name="editable 4">
            <a:extLst>
              <a:ext uri="{FF2B5EF4-FFF2-40B4-BE49-F238E27FC236}">
                <a16:creationId xmlns:a16="http://schemas.microsoft.com/office/drawing/2014/main" id="{7B28E195-5FD7-4683-BDEF-D1AA30A7E0F1}"/>
              </a:ext>
            </a:extLst>
          </p:cNvPr>
          <p:cNvSpPr txBox="1"/>
          <p:nvPr/>
        </p:nvSpPr>
        <p:spPr>
          <a:xfrm>
            <a:off x="731520" y="269438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the words become a flower.</a:t>
            </a:r>
          </a:p>
        </p:txBody>
      </p:sp>
      <p:sp>
        <p:nvSpPr>
          <p:cNvPr id="12" name="editable 5">
            <a:extLst>
              <a:ext uri="{FF2B5EF4-FFF2-40B4-BE49-F238E27FC236}">
                <a16:creationId xmlns:a16="http://schemas.microsoft.com/office/drawing/2014/main" id="{971C27AA-D762-49C3-8075-A2670B2A12D9}"/>
              </a:ext>
            </a:extLst>
          </p:cNvPr>
          <p:cNvSpPr txBox="1"/>
          <p:nvPr/>
        </p:nvSpPr>
        <p:spPr>
          <a:xfrm>
            <a:off x="731520" y="3036808"/>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its connections become part of the </a:t>
            </a:r>
          </a:p>
        </p:txBody>
      </p:sp>
      <p:sp>
        <p:nvSpPr>
          <p:cNvPr id="13" name="editable 6">
            <a:extLst>
              <a:ext uri="{FF2B5EF4-FFF2-40B4-BE49-F238E27FC236}">
                <a16:creationId xmlns:a16="http://schemas.microsoft.com/office/drawing/2014/main" id="{9A020738-7C0C-499F-A02D-C4FF56AE034E}"/>
              </a:ext>
            </a:extLst>
          </p:cNvPr>
          <p:cNvSpPr txBox="1"/>
          <p:nvPr/>
        </p:nvSpPr>
        <p:spPr>
          <a:xfrm>
            <a:off x="731520" y="337923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world.</a:t>
            </a:r>
          </a:p>
        </p:txBody>
      </p:sp>
      <p:sp>
        <p:nvSpPr>
          <p:cNvPr id="14" name="editable 7">
            <a:extLst>
              <a:ext uri="{FF2B5EF4-FFF2-40B4-BE49-F238E27FC236}">
                <a16:creationId xmlns:a16="http://schemas.microsoft.com/office/drawing/2014/main" id="{E0EE296D-6E88-4EFB-854E-98A734EF4FEF}"/>
              </a:ext>
            </a:extLst>
          </p:cNvPr>
          <p:cNvSpPr txBox="1"/>
          <p:nvPr/>
        </p:nvSpPr>
        <p:spPr>
          <a:xfrm>
            <a:off x="731520" y="4110275"/>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a seed, a flower, a first thread</a:t>
            </a:r>
          </a:p>
        </p:txBody>
      </p:sp>
      <p:sp>
        <p:nvSpPr>
          <p:cNvPr id="15" name="editable 8">
            <a:extLst>
              <a:ext uri="{FF2B5EF4-FFF2-40B4-BE49-F238E27FC236}">
                <a16:creationId xmlns:a16="http://schemas.microsoft.com/office/drawing/2014/main" id="{E32C82D2-13EE-4076-B720-234B9E449299}"/>
              </a:ext>
            </a:extLst>
          </p:cNvPr>
          <p:cNvSpPr txBox="1"/>
          <p:nvPr/>
        </p:nvSpPr>
        <p:spPr>
          <a:xfrm>
            <a:off x="731520" y="4590336"/>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a waiting seed, with the threads it could join</a:t>
            </a:r>
          </a:p>
        </p:txBody>
      </p:sp>
    </p:spTree>
    <p:extLst>
      <p:ext uri="{BB962C8B-B14F-4D97-AF65-F5344CB8AC3E}">
        <p14:creationId xmlns:p14="http://schemas.microsoft.com/office/powerpoint/2010/main" val="328880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3FF7FD57-8AF1-4719-9EFB-D89D6A2FFE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A74E3384-9FD1-409A-800C-8C5A88E89434}"/>
              </a:ext>
            </a:extLst>
          </p:cNvPr>
          <p:cNvSpPr txBox="1"/>
          <p:nvPr/>
        </p:nvSpPr>
        <p:spPr>
          <a:xfrm>
            <a:off x="731520" y="80010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one fictional life</a:t>
            </a:r>
          </a:p>
        </p:txBody>
      </p:sp>
      <p:sp>
        <p:nvSpPr>
          <p:cNvPr id="5" name="editable 2">
            <a:extLst>
              <a:ext uri="{FF2B5EF4-FFF2-40B4-BE49-F238E27FC236}">
                <a16:creationId xmlns:a16="http://schemas.microsoft.com/office/drawing/2014/main" id="{A6F1998C-3E39-4932-A7E1-91C52E1338AB}"/>
              </a:ext>
            </a:extLst>
          </p:cNvPr>
          <p:cNvSpPr txBox="1"/>
          <p:nvPr/>
        </p:nvSpPr>
        <p:spPr>
          <a:xfrm>
            <a:off x="731520" y="118872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her words</a:t>
            </a:r>
          </a:p>
        </p:txBody>
      </p:sp>
      <p:sp>
        <p:nvSpPr>
          <p:cNvPr id="6" name="editable 3">
            <a:extLst>
              <a:ext uri="{FF2B5EF4-FFF2-40B4-BE49-F238E27FC236}">
                <a16:creationId xmlns:a16="http://schemas.microsoft.com/office/drawing/2014/main" id="{775E14C0-E988-42DC-B3F9-45A96325DCBA}"/>
              </a:ext>
            </a:extLst>
          </p:cNvPr>
          <p:cNvSpPr txBox="1"/>
          <p:nvPr/>
        </p:nvSpPr>
        <p:spPr>
          <a:xfrm>
            <a:off x="731520" y="2173962"/>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“You don’t have </a:t>
            </a:r>
          </a:p>
        </p:txBody>
      </p:sp>
      <p:sp>
        <p:nvSpPr>
          <p:cNvPr id="7" name="editable 4">
            <a:extLst>
              <a:ext uri="{FF2B5EF4-FFF2-40B4-BE49-F238E27FC236}">
                <a16:creationId xmlns:a16="http://schemas.microsoft.com/office/drawing/2014/main" id="{E47B25C1-0A34-4B5A-98E6-8445A26DF153}"/>
              </a:ext>
            </a:extLst>
          </p:cNvPr>
          <p:cNvSpPr txBox="1"/>
          <p:nvPr/>
        </p:nvSpPr>
        <p:spPr>
          <a:xfrm>
            <a:off x="731520" y="2801898"/>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to be brave all the </a:t>
            </a:r>
          </a:p>
        </p:txBody>
      </p:sp>
      <p:sp>
        <p:nvSpPr>
          <p:cNvPr id="8" name="editable 5">
            <a:extLst>
              <a:ext uri="{FF2B5EF4-FFF2-40B4-BE49-F238E27FC236}">
                <a16:creationId xmlns:a16="http://schemas.microsoft.com/office/drawing/2014/main" id="{004E5BDA-4546-4A0A-9446-DC11C4A5A3DE}"/>
              </a:ext>
            </a:extLst>
          </p:cNvPr>
          <p:cNvSpPr txBox="1"/>
          <p:nvPr/>
        </p:nvSpPr>
        <p:spPr>
          <a:xfrm>
            <a:off x="731520" y="3429833"/>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time.”</a:t>
            </a:r>
          </a:p>
        </p:txBody>
      </p:sp>
      <p:sp>
        <p:nvSpPr>
          <p:cNvPr id="9" name="editable 6">
            <a:extLst>
              <a:ext uri="{FF2B5EF4-FFF2-40B4-BE49-F238E27FC236}">
                <a16:creationId xmlns:a16="http://schemas.microsoft.com/office/drawing/2014/main" id="{2B754551-7C4E-40F8-8ED5-42A26527A670}"/>
              </a:ext>
            </a:extLst>
          </p:cNvPr>
          <p:cNvSpPr txBox="1"/>
          <p:nvPr/>
        </p:nvSpPr>
        <p:spPr>
          <a:xfrm>
            <a:off x="731520" y="4339709"/>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grandma mei’s kitchen.</a:t>
            </a:r>
          </a:p>
        </p:txBody>
      </p:sp>
      <p:sp>
        <p:nvSpPr>
          <p:cNvPr id="10" name="editable 7">
            <a:extLst>
              <a:ext uri="{FF2B5EF4-FFF2-40B4-BE49-F238E27FC236}">
                <a16:creationId xmlns:a16="http://schemas.microsoft.com/office/drawing/2014/main" id="{9A05D784-4DD3-4870-BC30-52E7FDA7E1AE}"/>
              </a:ext>
            </a:extLst>
          </p:cNvPr>
          <p:cNvSpPr txBox="1"/>
          <p:nvPr/>
        </p:nvSpPr>
        <p:spPr>
          <a:xfrm>
            <a:off x="731520" y="4646771"/>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the music she played.</a:t>
            </a:r>
          </a:p>
        </p:txBody>
      </p:sp>
      <p:sp>
        <p:nvSpPr>
          <p:cNvPr id="11" name="editable 8">
            <a:extLst>
              <a:ext uri="{FF2B5EF4-FFF2-40B4-BE49-F238E27FC236}">
                <a16:creationId xmlns:a16="http://schemas.microsoft.com/office/drawing/2014/main" id="{539CCA9C-3067-48AF-975A-072328824F83}"/>
              </a:ext>
            </a:extLst>
          </p:cNvPr>
          <p:cNvSpPr txBox="1"/>
          <p:nvPr/>
        </p:nvSpPr>
        <p:spPr>
          <a:xfrm>
            <a:off x="731520" y="4953833"/>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different moments, one person.</a:t>
            </a:r>
          </a:p>
        </p:txBody>
      </p:sp>
    </p:spTree>
    <p:extLst>
      <p:ext uri="{BB962C8B-B14F-4D97-AF65-F5344CB8AC3E}">
        <p14:creationId xmlns:p14="http://schemas.microsoft.com/office/powerpoint/2010/main" val="1390234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1C95794-6191-4EB0-AE50-77400A67C96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D12C292D-F527-4028-A6DD-8D8BD25E7CB0}"/>
              </a:ext>
            </a:extLst>
          </p:cNvPr>
          <p:cNvSpPr txBox="1"/>
          <p:nvPr/>
        </p:nvSpPr>
        <p:spPr>
          <a:xfrm>
            <a:off x="731520" y="7162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relationships become visible</a:t>
            </a:r>
          </a:p>
        </p:txBody>
      </p:sp>
      <p:sp>
        <p:nvSpPr>
          <p:cNvPr id="5" name="editable 2">
            <a:extLst>
              <a:ext uri="{FF2B5EF4-FFF2-40B4-BE49-F238E27FC236}">
                <a16:creationId xmlns:a16="http://schemas.microsoft.com/office/drawing/2014/main" id="{D59438C8-1A41-4652-850A-64D7DD57D240}"/>
              </a:ext>
            </a:extLst>
          </p:cNvPr>
          <p:cNvSpPr txBox="1"/>
          <p:nvPr/>
        </p:nvSpPr>
        <p:spPr>
          <a:xfrm>
            <a:off x="731520" y="1104900"/>
            <a:ext cx="65" cy="276999"/>
          </a:xfrm>
          <a:prstGeom prst="rect">
            <a:avLst/>
          </a:prstGeom>
          <a:noFill/>
        </p:spPr>
        <p:txBody>
          <a:bodyPr vert="horz" wrap="none" lIns="0" tIns="0" rIns="0" bIns="0" rtlCol="0" anchor="t">
            <a:noAutofit/>
          </a:bodyPr>
          <a:lstStyle/>
          <a:p>
            <a:r>
              <a:rPr lang="en-GB" sz="4620" spc="-120">
                <a:solidFill>
                  <a:srgbClr val="F2EDE3"/>
                </a:solidFill>
                <a:latin typeface="Georgia" panose="02040502050405020303" pitchFamily="18" charset="0"/>
              </a:rPr>
              <a:t>what the fragments share</a:t>
            </a:r>
          </a:p>
        </p:txBody>
      </p:sp>
      <p:sp>
        <p:nvSpPr>
          <p:cNvPr id="6" name="editable 3">
            <a:extLst>
              <a:ext uri="{FF2B5EF4-FFF2-40B4-BE49-F238E27FC236}">
                <a16:creationId xmlns:a16="http://schemas.microsoft.com/office/drawing/2014/main" id="{29E7FF6C-B668-4923-8E08-2FB7022DF648}"/>
              </a:ext>
            </a:extLst>
          </p:cNvPr>
          <p:cNvSpPr txBox="1"/>
          <p:nvPr/>
        </p:nvSpPr>
        <p:spPr>
          <a:xfrm>
            <a:off x="731520" y="1978819"/>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care follows these threads</a:t>
            </a:r>
          </a:p>
        </p:txBody>
      </p:sp>
      <p:grpSp>
        <p:nvGrpSpPr>
          <p:cNvPr id="11" name="relationship reveal">
            <a:extLst>
              <a:ext uri="{FF2B5EF4-FFF2-40B4-BE49-F238E27FC236}">
                <a16:creationId xmlns:a16="http://schemas.microsoft.com/office/drawing/2014/main" id="{56043F4A-976A-479D-94EA-B1AEA5B228B8}"/>
              </a:ext>
            </a:extLst>
          </p:cNvPr>
          <p:cNvGrpSpPr/>
          <p:nvPr/>
        </p:nvGrpSpPr>
        <p:grpSpPr>
          <a:xfrm>
            <a:off x="8328660" y="3200400"/>
            <a:ext cx="65" cy="1557159"/>
            <a:chOff x="8328660" y="3200400"/>
            <a:chExt cx="65" cy="1557159"/>
          </a:xfrm>
        </p:grpSpPr>
        <p:sp>
          <p:nvSpPr>
            <p:cNvPr id="7" name="editable 4">
              <a:extLst>
                <a:ext uri="{FF2B5EF4-FFF2-40B4-BE49-F238E27FC236}">
                  <a16:creationId xmlns:a16="http://schemas.microsoft.com/office/drawing/2014/main" id="{1A8D3C64-1D8F-43AA-AB65-37E55E7F19B5}"/>
                </a:ext>
              </a:extLst>
            </p:cNvPr>
            <p:cNvSpPr txBox="1"/>
            <p:nvPr/>
          </p:nvSpPr>
          <p:spPr>
            <a:xfrm>
              <a:off x="8328660" y="320040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her words, her </a:t>
              </a:r>
            </a:p>
          </p:txBody>
        </p:sp>
        <p:sp>
          <p:nvSpPr>
            <p:cNvPr id="8" name="editable 5">
              <a:extLst>
                <a:ext uri="{FF2B5EF4-FFF2-40B4-BE49-F238E27FC236}">
                  <a16:creationId xmlns:a16="http://schemas.microsoft.com/office/drawing/2014/main" id="{666E1E02-F75D-4279-9420-4D8F9D8F8450}"/>
                </a:ext>
              </a:extLst>
            </p:cNvPr>
            <p:cNvSpPr txBox="1"/>
            <p:nvPr/>
          </p:nvSpPr>
          <p:spPr>
            <a:xfrm>
              <a:off x="8328660" y="362712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kitchen, and her </a:t>
              </a:r>
            </a:p>
          </p:txBody>
        </p:sp>
        <p:sp>
          <p:nvSpPr>
            <p:cNvPr id="9" name="editable 6">
              <a:extLst>
                <a:ext uri="{FF2B5EF4-FFF2-40B4-BE49-F238E27FC236}">
                  <a16:creationId xmlns:a16="http://schemas.microsoft.com/office/drawing/2014/main" id="{F776E655-0EAC-424A-B112-E3EE0442FB35}"/>
                </a:ext>
              </a:extLst>
            </p:cNvPr>
            <p:cNvSpPr txBox="1"/>
            <p:nvPr/>
          </p:nvSpPr>
          <p:spPr>
            <a:xfrm>
              <a:off x="8328660" y="405384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music share grandma </a:t>
              </a:r>
            </a:p>
          </p:txBody>
        </p:sp>
        <p:sp>
          <p:nvSpPr>
            <p:cNvPr id="10" name="editable 7">
              <a:extLst>
                <a:ext uri="{FF2B5EF4-FFF2-40B4-BE49-F238E27FC236}">
                  <a16:creationId xmlns:a16="http://schemas.microsoft.com/office/drawing/2014/main" id="{85BF7B19-23A4-4E87-9B9E-7E75E3B2F228}"/>
                </a:ext>
              </a:extLst>
            </p:cNvPr>
            <p:cNvSpPr txBox="1"/>
            <p:nvPr/>
          </p:nvSpPr>
          <p:spPr>
            <a:xfrm>
              <a:off x="8328660" y="448056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mei</a:t>
              </a:r>
            </a:p>
          </p:txBody>
        </p:sp>
      </p:grpSp>
    </p:spTree>
    <p:extLst>
      <p:ext uri="{BB962C8B-B14F-4D97-AF65-F5344CB8AC3E}">
        <p14:creationId xmlns:p14="http://schemas.microsoft.com/office/powerpoint/2010/main" val="342890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4064583-82CE-418C-811F-D8A60D9DFF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6E502A1B-C3EA-4326-AC4D-22228E67A86F}"/>
              </a:ext>
            </a:extLst>
          </p:cNvPr>
          <p:cNvSpPr txBox="1"/>
          <p:nvPr/>
        </p:nvSpPr>
        <p:spPr>
          <a:xfrm>
            <a:off x="731520" y="7924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choice for the audience</a:t>
            </a:r>
          </a:p>
        </p:txBody>
      </p:sp>
      <p:sp>
        <p:nvSpPr>
          <p:cNvPr id="5" name="editable 2">
            <a:extLst>
              <a:ext uri="{FF2B5EF4-FFF2-40B4-BE49-F238E27FC236}">
                <a16:creationId xmlns:a16="http://schemas.microsoft.com/office/drawing/2014/main" id="{2C3ADC28-9729-4B9F-A263-C55FF789A17F}"/>
              </a:ext>
            </a:extLst>
          </p:cNvPr>
          <p:cNvSpPr txBox="1"/>
          <p:nvPr/>
        </p:nvSpPr>
        <p:spPr>
          <a:xfrm>
            <a:off x="731520" y="118110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one light.</a:t>
            </a:r>
          </a:p>
        </p:txBody>
      </p:sp>
      <p:sp>
        <p:nvSpPr>
          <p:cNvPr id="6" name="editable 3">
            <a:extLst>
              <a:ext uri="{FF2B5EF4-FFF2-40B4-BE49-F238E27FC236}">
                <a16:creationId xmlns:a16="http://schemas.microsoft.com/office/drawing/2014/main" id="{4F61C768-D55E-49FA-B76A-90164BBE376A}"/>
              </a:ext>
            </a:extLst>
          </p:cNvPr>
          <p:cNvSpPr txBox="1"/>
          <p:nvPr/>
        </p:nvSpPr>
        <p:spPr>
          <a:xfrm>
            <a:off x="731520" y="1876782"/>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where would you place it?</a:t>
            </a:r>
          </a:p>
        </p:txBody>
      </p:sp>
      <p:sp>
        <p:nvSpPr>
          <p:cNvPr id="7" name="editable 4">
            <a:extLst>
              <a:ext uri="{FF2B5EF4-FFF2-40B4-BE49-F238E27FC236}">
                <a16:creationId xmlns:a16="http://schemas.microsoft.com/office/drawing/2014/main" id="{756DC8F0-D235-454E-9B6D-695B739FA192}"/>
              </a:ext>
            </a:extLst>
          </p:cNvPr>
          <p:cNvSpPr txBox="1"/>
          <p:nvPr/>
        </p:nvSpPr>
        <p:spPr>
          <a:xfrm>
            <a:off x="731520" y="285440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raise a hand for the memory you would tend.</a:t>
            </a:r>
          </a:p>
        </p:txBody>
      </p:sp>
      <p:sp>
        <p:nvSpPr>
          <p:cNvPr id="8" name="editable 5">
            <a:extLst>
              <a:ext uri="{FF2B5EF4-FFF2-40B4-BE49-F238E27FC236}">
                <a16:creationId xmlns:a16="http://schemas.microsoft.com/office/drawing/2014/main" id="{31734020-8449-4FA6-BE30-4117E21E903B}"/>
              </a:ext>
            </a:extLst>
          </p:cNvPr>
          <p:cNvSpPr txBox="1"/>
          <p:nvPr/>
        </p:nvSpPr>
        <p:spPr>
          <a:xfrm>
            <a:off x="731520" y="4036933"/>
            <a:ext cx="65" cy="276999"/>
          </a:xfrm>
          <a:prstGeom prst="rect">
            <a:avLst/>
          </a:prstGeom>
          <a:noFill/>
        </p:spPr>
        <p:txBody>
          <a:bodyPr vert="horz" wrap="none" lIns="0" tIns="0" rIns="0" bIns="0" rtlCol="0" anchor="t">
            <a:noAutofit/>
          </a:bodyPr>
          <a:lstStyle/>
          <a:p>
            <a:r>
              <a:rPr lang="en-GB" sz="2700">
                <a:solidFill>
                  <a:srgbClr val="F2EDE3"/>
                </a:solidFill>
                <a:latin typeface="Georgia" panose="02040502050405020303" pitchFamily="18" charset="0"/>
              </a:rPr>
              <a:t>grandma mei’s words</a:t>
            </a:r>
          </a:p>
        </p:txBody>
      </p:sp>
      <p:sp>
        <p:nvSpPr>
          <p:cNvPr id="9" name="editable 6">
            <a:extLst>
              <a:ext uri="{FF2B5EF4-FFF2-40B4-BE49-F238E27FC236}">
                <a16:creationId xmlns:a16="http://schemas.microsoft.com/office/drawing/2014/main" id="{039D2053-6ABF-46FF-9052-3DD70EBB374F}"/>
              </a:ext>
            </a:extLst>
          </p:cNvPr>
          <p:cNvSpPr txBox="1"/>
          <p:nvPr/>
        </p:nvSpPr>
        <p:spPr>
          <a:xfrm>
            <a:off x="731520" y="4577953"/>
            <a:ext cx="65" cy="276999"/>
          </a:xfrm>
          <a:prstGeom prst="rect">
            <a:avLst/>
          </a:prstGeom>
          <a:noFill/>
        </p:spPr>
        <p:txBody>
          <a:bodyPr vert="horz" wrap="none" lIns="0" tIns="0" rIns="0" bIns="0" rtlCol="0" anchor="t">
            <a:noAutofit/>
          </a:bodyPr>
          <a:lstStyle/>
          <a:p>
            <a:r>
              <a:rPr lang="en-GB" sz="1380">
                <a:solidFill>
                  <a:srgbClr val="AAB3C3"/>
                </a:solidFill>
                <a:latin typeface="Segoe UI" panose="020B0502040204020203" pitchFamily="34" charset="0"/>
              </a:rPr>
              <a:t>care travels to memories connected to her</a:t>
            </a:r>
          </a:p>
        </p:txBody>
      </p:sp>
      <p:sp>
        <p:nvSpPr>
          <p:cNvPr id="10" name="editable 7">
            <a:extLst>
              <a:ext uri="{FF2B5EF4-FFF2-40B4-BE49-F238E27FC236}">
                <a16:creationId xmlns:a16="http://schemas.microsoft.com/office/drawing/2014/main" id="{CDA7E821-7AEA-4032-86A9-8A65B4DFB047}"/>
              </a:ext>
            </a:extLst>
          </p:cNvPr>
          <p:cNvSpPr txBox="1"/>
          <p:nvPr/>
        </p:nvSpPr>
        <p:spPr>
          <a:xfrm>
            <a:off x="5817870" y="4036933"/>
            <a:ext cx="65" cy="276999"/>
          </a:xfrm>
          <a:prstGeom prst="rect">
            <a:avLst/>
          </a:prstGeom>
          <a:noFill/>
        </p:spPr>
        <p:txBody>
          <a:bodyPr vert="horz" wrap="none" lIns="0" tIns="0" rIns="0" bIns="0" rtlCol="0" anchor="t">
            <a:noAutofit/>
          </a:bodyPr>
          <a:lstStyle/>
          <a:p>
            <a:r>
              <a:rPr lang="en-GB" sz="2700">
                <a:solidFill>
                  <a:srgbClr val="F2EDE3"/>
                </a:solidFill>
                <a:latin typeface="Georgia" panose="02040502050405020303" pitchFamily="18" charset="0"/>
              </a:rPr>
              <a:t>the library rooftop</a:t>
            </a:r>
          </a:p>
        </p:txBody>
      </p:sp>
      <p:sp>
        <p:nvSpPr>
          <p:cNvPr id="11" name="editable 8">
            <a:extLst>
              <a:ext uri="{FF2B5EF4-FFF2-40B4-BE49-F238E27FC236}">
                <a16:creationId xmlns:a16="http://schemas.microsoft.com/office/drawing/2014/main" id="{C605E003-AED1-4CB1-9167-2CFE580C21D1}"/>
              </a:ext>
            </a:extLst>
          </p:cNvPr>
          <p:cNvSpPr txBox="1"/>
          <p:nvPr/>
        </p:nvSpPr>
        <p:spPr>
          <a:xfrm>
            <a:off x="5817870" y="4577953"/>
            <a:ext cx="65" cy="276999"/>
          </a:xfrm>
          <a:prstGeom prst="rect">
            <a:avLst/>
          </a:prstGeom>
          <a:noFill/>
        </p:spPr>
        <p:txBody>
          <a:bodyPr vert="horz" wrap="none" lIns="0" tIns="0" rIns="0" bIns="0" rtlCol="0" anchor="t">
            <a:noAutofit/>
          </a:bodyPr>
          <a:lstStyle/>
          <a:p>
            <a:r>
              <a:rPr lang="en-GB" sz="1380">
                <a:solidFill>
                  <a:srgbClr val="AAB3C3"/>
                </a:solidFill>
                <a:latin typeface="Segoe UI" panose="020B0502040204020203" pitchFamily="34" charset="0"/>
              </a:rPr>
              <a:t>a place that matters on its own</a:t>
            </a:r>
          </a:p>
        </p:txBody>
      </p:sp>
      <p:sp>
        <p:nvSpPr>
          <p:cNvPr id="12" name="editable 9">
            <a:extLst>
              <a:ext uri="{FF2B5EF4-FFF2-40B4-BE49-F238E27FC236}">
                <a16:creationId xmlns:a16="http://schemas.microsoft.com/office/drawing/2014/main" id="{5106C792-66EE-430E-B650-914BC5D99F8E}"/>
              </a:ext>
            </a:extLst>
          </p:cNvPr>
          <p:cNvSpPr txBox="1"/>
          <p:nvPr/>
        </p:nvSpPr>
        <p:spPr>
          <a:xfrm>
            <a:off x="731520" y="5490448"/>
            <a:ext cx="65" cy="276999"/>
          </a:xfrm>
          <a:prstGeom prst="rect">
            <a:avLst/>
          </a:prstGeom>
          <a:noFill/>
        </p:spPr>
        <p:txBody>
          <a:bodyPr vert="horz" wrap="none" lIns="0" tIns="0" rIns="0" bIns="0" rtlCol="0" anchor="t">
            <a:noAutofit/>
          </a:bodyPr>
          <a:lstStyle/>
          <a:p>
            <a:r>
              <a:rPr lang="en-GB" sz="1680">
                <a:solidFill>
                  <a:srgbClr val="F1CE94"/>
                </a:solidFill>
                <a:latin typeface="Segoe UI" panose="020B0502040204020203" pitchFamily="34" charset="0"/>
              </a:rPr>
              <a:t>both choices belong to the same life.</a:t>
            </a:r>
          </a:p>
        </p:txBody>
      </p:sp>
      <p:sp>
        <p:nvSpPr>
          <p:cNvPr id="13" name="editable 10">
            <a:extLst>
              <a:ext uri="{FF2B5EF4-FFF2-40B4-BE49-F238E27FC236}">
                <a16:creationId xmlns:a16="http://schemas.microsoft.com/office/drawing/2014/main" id="{E4500025-F11C-4FFF-9781-3C8D5F59E089}"/>
              </a:ext>
            </a:extLst>
          </p:cNvPr>
          <p:cNvSpPr txBox="1"/>
          <p:nvPr/>
        </p:nvSpPr>
        <p:spPr>
          <a:xfrm>
            <a:off x="731520" y="6070164"/>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we’ll take your choice into the living garden.</a:t>
            </a:r>
          </a:p>
        </p:txBody>
      </p:sp>
    </p:spTree>
    <p:extLst>
      <p:ext uri="{BB962C8B-B14F-4D97-AF65-F5344CB8AC3E}">
        <p14:creationId xmlns:p14="http://schemas.microsoft.com/office/powerpoint/2010/main" val="944236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A17C4195-904B-430F-BCBB-D40F8F34CC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78F9EDC1-D204-49B3-A54D-33E4CE63787A}"/>
              </a:ext>
            </a:extLst>
          </p:cNvPr>
          <p:cNvSpPr txBox="1"/>
          <p:nvPr/>
        </p:nvSpPr>
        <p:spPr>
          <a:xfrm>
            <a:off x="731520" y="11658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the audience’s choice, in the game</a:t>
            </a:r>
          </a:p>
        </p:txBody>
      </p:sp>
      <p:sp>
        <p:nvSpPr>
          <p:cNvPr id="5" name="editable 2">
            <a:extLst>
              <a:ext uri="{FF2B5EF4-FFF2-40B4-BE49-F238E27FC236}">
                <a16:creationId xmlns:a16="http://schemas.microsoft.com/office/drawing/2014/main" id="{A26DCF65-5E8D-48AF-A67D-78AF24A0C24F}"/>
              </a:ext>
            </a:extLst>
          </p:cNvPr>
          <p:cNvSpPr txBox="1"/>
          <p:nvPr/>
        </p:nvSpPr>
        <p:spPr>
          <a:xfrm>
            <a:off x="731520" y="1554480"/>
            <a:ext cx="65" cy="276999"/>
          </a:xfrm>
          <a:prstGeom prst="rect">
            <a:avLst/>
          </a:prstGeom>
          <a:noFill/>
        </p:spPr>
        <p:txBody>
          <a:bodyPr vert="horz" wrap="none" lIns="0" tIns="0" rIns="0" bIns="0" rtlCol="0" anchor="t">
            <a:noAutofit/>
          </a:bodyPr>
          <a:lstStyle/>
          <a:p>
            <a:r>
              <a:rPr lang="en-GB" sz="6000" spc="-120">
                <a:solidFill>
                  <a:srgbClr val="F2EDE3"/>
                </a:solidFill>
                <a:latin typeface="Georgia" panose="02040502050405020303" pitchFamily="18" charset="0"/>
              </a:rPr>
              <a:t>the living garden</a:t>
            </a:r>
          </a:p>
        </p:txBody>
      </p:sp>
      <p:sp>
        <p:nvSpPr>
          <p:cNvPr id="6" name="editable 3">
            <a:extLst>
              <a:ext uri="{FF2B5EF4-FFF2-40B4-BE49-F238E27FC236}">
                <a16:creationId xmlns:a16="http://schemas.microsoft.com/office/drawing/2014/main" id="{3F0DD995-418B-448B-8302-1CDB71F738C3}"/>
              </a:ext>
            </a:extLst>
          </p:cNvPr>
          <p:cNvSpPr txBox="1"/>
          <p:nvPr/>
        </p:nvSpPr>
        <p:spPr>
          <a:xfrm>
            <a:off x="731520" y="2674620"/>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choose what to tend.</a:t>
            </a:r>
          </a:p>
        </p:txBody>
      </p:sp>
      <p:sp>
        <p:nvSpPr>
          <p:cNvPr id="7" name="editable 4">
            <a:extLst>
              <a:ext uri="{FF2B5EF4-FFF2-40B4-BE49-F238E27FC236}">
                <a16:creationId xmlns:a16="http://schemas.microsoft.com/office/drawing/2014/main" id="{A2D8D37E-6864-4F03-B70A-AA58E9B869AC}"/>
              </a:ext>
            </a:extLst>
          </p:cNvPr>
          <p:cNvSpPr txBox="1"/>
          <p:nvPr/>
        </p:nvSpPr>
        <p:spPr>
          <a:xfrm>
            <a:off x="731520" y="301704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plant a fragment. let a season pass.</a:t>
            </a:r>
          </a:p>
        </p:txBody>
      </p:sp>
      <p:sp>
        <p:nvSpPr>
          <p:cNvPr id="8" name="editable 5">
            <a:hlinkClick r:id="rId4"/>
            <a:extLst>
              <a:ext uri="{FF2B5EF4-FFF2-40B4-BE49-F238E27FC236}">
                <a16:creationId xmlns:a16="http://schemas.microsoft.com/office/drawing/2014/main" id="{F2EE7C94-8DAE-4EFA-B986-8959B3DDD63B}"/>
              </a:ext>
            </a:extLst>
          </p:cNvPr>
          <p:cNvSpPr txBox="1"/>
          <p:nvPr/>
        </p:nvSpPr>
        <p:spPr>
          <a:xfrm>
            <a:off x="952500" y="3862388"/>
            <a:ext cx="65" cy="276999"/>
          </a:xfrm>
          <a:prstGeom prst="rect">
            <a:avLst/>
          </a:prstGeom>
          <a:noFill/>
        </p:spPr>
        <p:txBody>
          <a:bodyPr vert="horz" wrap="none" lIns="0" tIns="0" rIns="0" bIns="0" rtlCol="0" anchor="t">
            <a:noAutofit/>
          </a:bodyPr>
          <a:lstStyle/>
          <a:p>
            <a:r>
              <a:rPr lang="en-GB" sz="1620">
                <a:solidFill>
                  <a:srgbClr val="F1CE94"/>
                </a:solidFill>
                <a:latin typeface="Segoe UI" panose="020B0502040204020203" pitchFamily="34" charset="0"/>
              </a:rPr>
              <a:t>open the garden</a:t>
            </a:r>
          </a:p>
        </p:txBody>
      </p:sp>
      <p:sp>
        <p:nvSpPr>
          <p:cNvPr id="9" name="editable 6">
            <a:extLst>
              <a:ext uri="{FF2B5EF4-FFF2-40B4-BE49-F238E27FC236}">
                <a16:creationId xmlns:a16="http://schemas.microsoft.com/office/drawing/2014/main" id="{EA90DD53-C206-4807-8BB6-2B6FC6E72B9E}"/>
              </a:ext>
            </a:extLst>
          </p:cNvPr>
          <p:cNvSpPr txBox="1"/>
          <p:nvPr/>
        </p:nvSpPr>
        <p:spPr>
          <a:xfrm>
            <a:off x="2954774" y="3873817"/>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recording fallback</a:t>
            </a:r>
          </a:p>
        </p:txBody>
      </p:sp>
      <p:sp>
        <p:nvSpPr>
          <p:cNvPr id="10" name="editable 7">
            <a:extLst>
              <a:ext uri="{FF2B5EF4-FFF2-40B4-BE49-F238E27FC236}">
                <a16:creationId xmlns:a16="http://schemas.microsoft.com/office/drawing/2014/main" id="{CA983D10-1BF6-486B-8890-9FE1B4F3DA29}"/>
              </a:ext>
            </a:extLst>
          </p:cNvPr>
          <p:cNvSpPr txBox="1"/>
          <p:nvPr/>
        </p:nvSpPr>
        <p:spPr>
          <a:xfrm>
            <a:off x="731520" y="4525328"/>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the live game uses its real rules. the recorded route is a fallback.</a:t>
            </a:r>
          </a:p>
        </p:txBody>
      </p:sp>
    </p:spTree>
    <p:extLst>
      <p:ext uri="{BB962C8B-B14F-4D97-AF65-F5344CB8AC3E}">
        <p14:creationId xmlns:p14="http://schemas.microsoft.com/office/powerpoint/2010/main" val="2289874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36727DA4-B2E4-4209-9ED9-9A5109AF3C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image reveal season-after">
            <a:extLst>
              <a:ext uri="{FF2B5EF4-FFF2-40B4-BE49-F238E27FC236}">
                <a16:creationId xmlns:a16="http://schemas.microsoft.com/office/drawing/2014/main" id="{0F8B13DA-3771-4100-9813-5B8909E40BA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editable 1">
            <a:extLst>
              <a:ext uri="{FF2B5EF4-FFF2-40B4-BE49-F238E27FC236}">
                <a16:creationId xmlns:a16="http://schemas.microsoft.com/office/drawing/2014/main" id="{D80A0484-CA6F-4BDA-A600-45261DFA18CA}"/>
              </a:ext>
            </a:extLst>
          </p:cNvPr>
          <p:cNvSpPr txBox="1"/>
          <p:nvPr/>
        </p:nvSpPr>
        <p:spPr>
          <a:xfrm>
            <a:off x="731520" y="7162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attention has consequences</a:t>
            </a:r>
          </a:p>
        </p:txBody>
      </p:sp>
      <p:sp>
        <p:nvSpPr>
          <p:cNvPr id="7" name="editable 2">
            <a:extLst>
              <a:ext uri="{FF2B5EF4-FFF2-40B4-BE49-F238E27FC236}">
                <a16:creationId xmlns:a16="http://schemas.microsoft.com/office/drawing/2014/main" id="{9782A7C0-79EB-403B-AC5E-D668E8E92148}"/>
              </a:ext>
            </a:extLst>
          </p:cNvPr>
          <p:cNvSpPr txBox="1"/>
          <p:nvPr/>
        </p:nvSpPr>
        <p:spPr>
          <a:xfrm>
            <a:off x="731520" y="110490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a season passes</a:t>
            </a:r>
          </a:p>
        </p:txBody>
      </p:sp>
      <p:sp>
        <p:nvSpPr>
          <p:cNvPr id="8" name="editable 3">
            <a:extLst>
              <a:ext uri="{FF2B5EF4-FFF2-40B4-BE49-F238E27FC236}">
                <a16:creationId xmlns:a16="http://schemas.microsoft.com/office/drawing/2014/main" id="{A0EBA83A-CCD7-4B40-B381-AE7A0EAA0FA2}"/>
              </a:ext>
            </a:extLst>
          </p:cNvPr>
          <p:cNvSpPr txBox="1"/>
          <p:nvPr/>
        </p:nvSpPr>
        <p:spPr>
          <a:xfrm>
            <a:off x="731520" y="208252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some moments keep their color.</a:t>
            </a:r>
          </a:p>
        </p:txBody>
      </p:sp>
      <p:sp>
        <p:nvSpPr>
          <p:cNvPr id="9" name="editable 4">
            <a:extLst>
              <a:ext uri="{FF2B5EF4-FFF2-40B4-BE49-F238E27FC236}">
                <a16:creationId xmlns:a16="http://schemas.microsoft.com/office/drawing/2014/main" id="{5A7AC726-9BAF-486E-A32D-81C5DCFFDD64}"/>
              </a:ext>
            </a:extLst>
          </p:cNvPr>
          <p:cNvSpPr txBox="1"/>
          <p:nvPr/>
        </p:nvSpPr>
        <p:spPr>
          <a:xfrm>
            <a:off x="731520" y="2424946"/>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others settle into dusk.</a:t>
            </a:r>
          </a:p>
        </p:txBody>
      </p:sp>
      <p:sp>
        <p:nvSpPr>
          <p:cNvPr id="10" name="editable 5">
            <a:extLst>
              <a:ext uri="{FF2B5EF4-FFF2-40B4-BE49-F238E27FC236}">
                <a16:creationId xmlns:a16="http://schemas.microsoft.com/office/drawing/2014/main" id="{4F5C7B24-046A-413B-AD74-0EEF9178CAD6}"/>
              </a:ext>
            </a:extLst>
          </p:cNvPr>
          <p:cNvSpPr txBox="1"/>
          <p:nvPr/>
        </p:nvSpPr>
        <p:spPr>
          <a:xfrm>
            <a:off x="731520" y="3034070"/>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let dusk settle</a:t>
            </a:r>
          </a:p>
        </p:txBody>
      </p:sp>
    </p:spTree>
    <p:extLst>
      <p:ext uri="{BB962C8B-B14F-4D97-AF65-F5344CB8AC3E}">
        <p14:creationId xmlns:p14="http://schemas.microsoft.com/office/powerpoint/2010/main" val="276088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4E14F923-6EF8-44E2-B9EB-84EB64E032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7BEDF4B0-20E3-4884-A9EF-5058D63A8A2B}"/>
              </a:ext>
            </a:extLst>
          </p:cNvPr>
          <p:cNvSpPr txBox="1"/>
          <p:nvPr/>
        </p:nvSpPr>
        <p:spPr>
          <a:xfrm>
            <a:off x="731520" y="76200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pause, rather than a verdict</a:t>
            </a:r>
          </a:p>
        </p:txBody>
      </p:sp>
      <p:sp>
        <p:nvSpPr>
          <p:cNvPr id="5" name="editable 2">
            <a:extLst>
              <a:ext uri="{FF2B5EF4-FFF2-40B4-BE49-F238E27FC236}">
                <a16:creationId xmlns:a16="http://schemas.microsoft.com/office/drawing/2014/main" id="{CF374E22-7B7E-4C8E-9A9E-1CD61BB806D7}"/>
              </a:ext>
            </a:extLst>
          </p:cNvPr>
          <p:cNvSpPr txBox="1"/>
          <p:nvPr/>
        </p:nvSpPr>
        <p:spPr>
          <a:xfrm>
            <a:off x="731520" y="1150620"/>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a seed remains</a:t>
            </a:r>
          </a:p>
        </p:txBody>
      </p:sp>
      <p:sp>
        <p:nvSpPr>
          <p:cNvPr id="6" name="editable 3">
            <a:extLst>
              <a:ext uri="{FF2B5EF4-FFF2-40B4-BE49-F238E27FC236}">
                <a16:creationId xmlns:a16="http://schemas.microsoft.com/office/drawing/2014/main" id="{3E2E9445-4699-4B72-B7BB-53F79796E235}"/>
              </a:ext>
            </a:extLst>
          </p:cNvPr>
          <p:cNvSpPr txBox="1"/>
          <p:nvPr/>
        </p:nvSpPr>
        <p:spPr>
          <a:xfrm>
            <a:off x="731520" y="2245519"/>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the words remain.</a:t>
            </a:r>
          </a:p>
        </p:txBody>
      </p:sp>
      <p:sp>
        <p:nvSpPr>
          <p:cNvPr id="7" name="editable 4">
            <a:extLst>
              <a:ext uri="{FF2B5EF4-FFF2-40B4-BE49-F238E27FC236}">
                <a16:creationId xmlns:a16="http://schemas.microsoft.com/office/drawing/2014/main" id="{866E4AB1-C611-4A38-A820-FA65C1FD04BC}"/>
              </a:ext>
            </a:extLst>
          </p:cNvPr>
          <p:cNvSpPr txBox="1"/>
          <p:nvPr/>
        </p:nvSpPr>
        <p:spPr>
          <a:xfrm>
            <a:off x="731520" y="258794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we can return to them.</a:t>
            </a:r>
          </a:p>
        </p:txBody>
      </p:sp>
      <p:sp>
        <p:nvSpPr>
          <p:cNvPr id="8" name="editable 5">
            <a:extLst>
              <a:ext uri="{FF2B5EF4-FFF2-40B4-BE49-F238E27FC236}">
                <a16:creationId xmlns:a16="http://schemas.microsoft.com/office/drawing/2014/main" id="{D41AE990-1B5D-482B-B983-078A83CD5760}"/>
              </a:ext>
            </a:extLst>
          </p:cNvPr>
          <p:cNvSpPr txBox="1"/>
          <p:nvPr/>
        </p:nvSpPr>
        <p:spPr>
          <a:xfrm>
            <a:off x="731520" y="2930366"/>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for now, this space is quiet.</a:t>
            </a:r>
          </a:p>
        </p:txBody>
      </p:sp>
      <p:sp>
        <p:nvSpPr>
          <p:cNvPr id="9" name="editable 6">
            <a:extLst>
              <a:ext uri="{FF2B5EF4-FFF2-40B4-BE49-F238E27FC236}">
                <a16:creationId xmlns:a16="http://schemas.microsoft.com/office/drawing/2014/main" id="{713F300B-5F24-4AAE-A388-C70AB04A4BF8}"/>
              </a:ext>
            </a:extLst>
          </p:cNvPr>
          <p:cNvSpPr txBox="1"/>
          <p:nvPr/>
        </p:nvSpPr>
        <p:spPr>
          <a:xfrm>
            <a:off x="731520" y="5699760"/>
            <a:ext cx="65" cy="276999"/>
          </a:xfrm>
          <a:prstGeom prst="rect">
            <a:avLst/>
          </a:prstGeom>
          <a:noFill/>
        </p:spPr>
        <p:txBody>
          <a:bodyPr vert="horz" wrap="none" lIns="0" tIns="0" rIns="0" bIns="0" rtlCol="0" anchor="t">
            <a:noAutofit/>
          </a:bodyPr>
          <a:lstStyle/>
          <a:p>
            <a:r>
              <a:rPr lang="en-GB" sz="2100">
                <a:solidFill>
                  <a:srgbClr val="F1CE94"/>
                </a:solidFill>
                <a:latin typeface="Georgia" panose="02040502050405020303" pitchFamily="18" charset="0"/>
              </a:rPr>
              <a:t>let this moment breathe</a:t>
            </a:r>
          </a:p>
        </p:txBody>
      </p:sp>
    </p:spTree>
    <p:extLst>
      <p:ext uri="{BB962C8B-B14F-4D97-AF65-F5344CB8AC3E}">
        <p14:creationId xmlns:p14="http://schemas.microsoft.com/office/powerpoint/2010/main" val="31149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E4E6A0E9-5B69-4B6F-A1AD-935C2A8C05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96518997-33CF-4C1F-9891-A16B6A6D2835}"/>
              </a:ext>
            </a:extLst>
          </p:cNvPr>
          <p:cNvSpPr txBox="1"/>
          <p:nvPr/>
        </p:nvSpPr>
        <p:spPr>
          <a:xfrm>
            <a:off x="731520" y="8305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the world becomes a portrait</a:t>
            </a:r>
          </a:p>
        </p:txBody>
      </p:sp>
      <p:sp>
        <p:nvSpPr>
          <p:cNvPr id="5" name="editable 2">
            <a:extLst>
              <a:ext uri="{FF2B5EF4-FFF2-40B4-BE49-F238E27FC236}">
                <a16:creationId xmlns:a16="http://schemas.microsoft.com/office/drawing/2014/main" id="{4BE08C92-E142-46FE-9424-81DF3D5F5ECD}"/>
              </a:ext>
            </a:extLst>
          </p:cNvPr>
          <p:cNvSpPr txBox="1"/>
          <p:nvPr/>
        </p:nvSpPr>
        <p:spPr>
          <a:xfrm>
            <a:off x="731520" y="1219200"/>
            <a:ext cx="65" cy="276999"/>
          </a:xfrm>
          <a:prstGeom prst="rect">
            <a:avLst/>
          </a:prstGeom>
          <a:noFill/>
        </p:spPr>
        <p:txBody>
          <a:bodyPr vert="horz" wrap="none" lIns="0" tIns="0" rIns="0" bIns="0" rtlCol="0" anchor="t">
            <a:noAutofit/>
          </a:bodyPr>
          <a:lstStyle/>
          <a:p>
            <a:r>
              <a:rPr lang="en-GB" sz="5220" spc="-120">
                <a:solidFill>
                  <a:srgbClr val="F2EDE3"/>
                </a:solidFill>
                <a:latin typeface="Georgia" panose="02040502050405020303" pitchFamily="18" charset="0"/>
              </a:rPr>
              <a:t>what holds</a:t>
            </a:r>
          </a:p>
        </p:txBody>
      </p:sp>
      <p:sp>
        <p:nvSpPr>
          <p:cNvPr id="6" name="editable 3">
            <a:extLst>
              <a:ext uri="{FF2B5EF4-FFF2-40B4-BE49-F238E27FC236}">
                <a16:creationId xmlns:a16="http://schemas.microsoft.com/office/drawing/2014/main" id="{63093CBE-FC1F-4BE8-985F-BA94648C6D79}"/>
              </a:ext>
            </a:extLst>
          </p:cNvPr>
          <p:cNvSpPr txBox="1"/>
          <p:nvPr/>
        </p:nvSpPr>
        <p:spPr>
          <a:xfrm>
            <a:off x="731520" y="1948339"/>
            <a:ext cx="65" cy="276999"/>
          </a:xfrm>
          <a:prstGeom prst="rect">
            <a:avLst/>
          </a:prstGeom>
          <a:noFill/>
        </p:spPr>
        <p:txBody>
          <a:bodyPr vert="horz" wrap="none" lIns="0" tIns="0" rIns="0" bIns="0" rtlCol="0" anchor="t">
            <a:noAutofit/>
          </a:bodyPr>
          <a:lstStyle/>
          <a:p>
            <a:r>
              <a:rPr lang="en-GB" sz="5220" spc="-120">
                <a:solidFill>
                  <a:srgbClr val="F2EDE3"/>
                </a:solidFill>
                <a:latin typeface="Georgia" panose="02040502050405020303" pitchFamily="18" charset="0"/>
              </a:rPr>
              <a:t>this life</a:t>
            </a:r>
          </a:p>
        </p:txBody>
      </p:sp>
      <p:sp>
        <p:nvSpPr>
          <p:cNvPr id="7" name="editable 4">
            <a:extLst>
              <a:ext uri="{FF2B5EF4-FFF2-40B4-BE49-F238E27FC236}">
                <a16:creationId xmlns:a16="http://schemas.microsoft.com/office/drawing/2014/main" id="{3E42B661-2F1B-4CBE-8306-1C2431F08CC8}"/>
              </a:ext>
            </a:extLst>
          </p:cNvPr>
          <p:cNvSpPr txBox="1"/>
          <p:nvPr/>
        </p:nvSpPr>
        <p:spPr>
          <a:xfrm>
            <a:off x="731520" y="2959417"/>
            <a:ext cx="65" cy="276999"/>
          </a:xfrm>
          <a:prstGeom prst="rect">
            <a:avLst/>
          </a:prstGeom>
          <a:noFill/>
        </p:spPr>
        <p:txBody>
          <a:bodyPr vert="horz" wrap="none" lIns="0" tIns="0" rIns="0" bIns="0" rtlCol="0" anchor="t">
            <a:noAutofit/>
          </a:bodyPr>
          <a:lstStyle/>
          <a:p>
            <a:r>
              <a:rPr lang="en-GB" sz="1680">
                <a:solidFill>
                  <a:srgbClr val="AAB3C3"/>
                </a:solidFill>
                <a:latin typeface="Segoe UI" panose="020B0502040204020203" pitchFamily="34" charset="0"/>
              </a:rPr>
              <a:t>people and places emerge</a:t>
            </a:r>
          </a:p>
        </p:txBody>
      </p:sp>
      <p:sp>
        <p:nvSpPr>
          <p:cNvPr id="8" name="editable 5">
            <a:extLst>
              <a:ext uri="{FF2B5EF4-FFF2-40B4-BE49-F238E27FC236}">
                <a16:creationId xmlns:a16="http://schemas.microsoft.com/office/drawing/2014/main" id="{7AED3E64-60B5-43ED-AB92-1299FF4704DE}"/>
              </a:ext>
            </a:extLst>
          </p:cNvPr>
          <p:cNvSpPr txBox="1"/>
          <p:nvPr/>
        </p:nvSpPr>
        <p:spPr>
          <a:xfrm>
            <a:off x="731520" y="3290054"/>
            <a:ext cx="65" cy="276999"/>
          </a:xfrm>
          <a:prstGeom prst="rect">
            <a:avLst/>
          </a:prstGeom>
          <a:noFill/>
        </p:spPr>
        <p:txBody>
          <a:bodyPr vert="horz" wrap="none" lIns="0" tIns="0" rIns="0" bIns="0" rtlCol="0" anchor="t">
            <a:noAutofit/>
          </a:bodyPr>
          <a:lstStyle/>
          <a:p>
            <a:r>
              <a:rPr lang="en-GB" sz="1680">
                <a:solidFill>
                  <a:srgbClr val="AAB3C3"/>
                </a:solidFill>
                <a:latin typeface="Segoe UI" panose="020B0502040204020203" pitchFamily="34" charset="0"/>
              </a:rPr>
              <a:t>from the memories that remain.</a:t>
            </a:r>
          </a:p>
        </p:txBody>
      </p:sp>
      <p:sp>
        <p:nvSpPr>
          <p:cNvPr id="9" name="editable 6">
            <a:extLst>
              <a:ext uri="{FF2B5EF4-FFF2-40B4-BE49-F238E27FC236}">
                <a16:creationId xmlns:a16="http://schemas.microsoft.com/office/drawing/2014/main" id="{76DA8C8A-DA3A-4320-801C-9A78AA39C697}"/>
              </a:ext>
            </a:extLst>
          </p:cNvPr>
          <p:cNvSpPr txBox="1"/>
          <p:nvPr/>
        </p:nvSpPr>
        <p:spPr>
          <a:xfrm>
            <a:off x="731520" y="3910250"/>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reveal the relationships</a:t>
            </a:r>
          </a:p>
        </p:txBody>
      </p:sp>
      <p:grpSp>
        <p:nvGrpSpPr>
          <p:cNvPr id="13" name="relationship reveal">
            <a:extLst>
              <a:ext uri="{FF2B5EF4-FFF2-40B4-BE49-F238E27FC236}">
                <a16:creationId xmlns:a16="http://schemas.microsoft.com/office/drawing/2014/main" id="{EA3BB745-2DD7-4D4B-A911-F1EC08724775}"/>
              </a:ext>
            </a:extLst>
          </p:cNvPr>
          <p:cNvGrpSpPr/>
          <p:nvPr/>
        </p:nvGrpSpPr>
        <p:grpSpPr>
          <a:xfrm>
            <a:off x="731520" y="4519850"/>
            <a:ext cx="65" cy="1183780"/>
            <a:chOff x="731520" y="4519850"/>
            <a:chExt cx="65" cy="1183780"/>
          </a:xfrm>
        </p:grpSpPr>
        <p:sp>
          <p:nvSpPr>
            <p:cNvPr id="10" name="editable 7">
              <a:extLst>
                <a:ext uri="{FF2B5EF4-FFF2-40B4-BE49-F238E27FC236}">
                  <a16:creationId xmlns:a16="http://schemas.microsoft.com/office/drawing/2014/main" id="{BA30AE17-748A-4334-AA18-972CD09EECF1}"/>
                </a:ext>
              </a:extLst>
            </p:cNvPr>
            <p:cNvSpPr txBox="1"/>
            <p:nvPr/>
          </p:nvSpPr>
          <p:spPr>
            <a:xfrm>
              <a:off x="731520" y="4519850"/>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grandma mei</a:t>
              </a:r>
            </a:p>
          </p:txBody>
        </p:sp>
        <p:sp>
          <p:nvSpPr>
            <p:cNvPr id="11" name="editable 8">
              <a:extLst>
                <a:ext uri="{FF2B5EF4-FFF2-40B4-BE49-F238E27FC236}">
                  <a16:creationId xmlns:a16="http://schemas.microsoft.com/office/drawing/2014/main" id="{1E6486C0-462A-430D-8CAC-138C31C990E0}"/>
                </a:ext>
              </a:extLst>
            </p:cNvPr>
            <p:cNvSpPr txBox="1"/>
            <p:nvPr/>
          </p:nvSpPr>
          <p:spPr>
            <a:xfrm>
              <a:off x="731520" y="4973241"/>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leo</a:t>
              </a:r>
            </a:p>
          </p:txBody>
        </p:sp>
        <p:sp>
          <p:nvSpPr>
            <p:cNvPr id="12" name="editable 9">
              <a:extLst>
                <a:ext uri="{FF2B5EF4-FFF2-40B4-BE49-F238E27FC236}">
                  <a16:creationId xmlns:a16="http://schemas.microsoft.com/office/drawing/2014/main" id="{AAB6CF47-0FFF-4AE9-9AC2-24A0B709B76A}"/>
                </a:ext>
              </a:extLst>
            </p:cNvPr>
            <p:cNvSpPr txBox="1"/>
            <p:nvPr/>
          </p:nvSpPr>
          <p:spPr>
            <a:xfrm>
              <a:off x="731520" y="5426631"/>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hangzhou</a:t>
              </a:r>
            </a:p>
          </p:txBody>
        </p:sp>
      </p:grpSp>
    </p:spTree>
    <p:extLst>
      <p:ext uri="{BB962C8B-B14F-4D97-AF65-F5344CB8AC3E}">
        <p14:creationId xmlns:p14="http://schemas.microsoft.com/office/powerpoint/2010/main" val="322258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E3EC2CD0-061D-4AE2-B939-1260901A91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B4218E1D-AD98-4A64-A990-FE5371905EF8}"/>
              </a:ext>
            </a:extLst>
          </p:cNvPr>
          <p:cNvSpPr txBox="1"/>
          <p:nvPr/>
        </p:nvSpPr>
        <p:spPr>
          <a:xfrm>
            <a:off x="731520" y="8991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beyond the fictional garden</a:t>
            </a:r>
          </a:p>
        </p:txBody>
      </p:sp>
      <p:sp>
        <p:nvSpPr>
          <p:cNvPr id="5" name="editable 2">
            <a:extLst>
              <a:ext uri="{FF2B5EF4-FFF2-40B4-BE49-F238E27FC236}">
                <a16:creationId xmlns:a16="http://schemas.microsoft.com/office/drawing/2014/main" id="{41F616B0-1865-442E-9679-C86D05C177FC}"/>
              </a:ext>
            </a:extLst>
          </p:cNvPr>
          <p:cNvSpPr txBox="1"/>
          <p:nvPr/>
        </p:nvSpPr>
        <p:spPr>
          <a:xfrm>
            <a:off x="731520" y="128778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a world you can</a:t>
            </a:r>
          </a:p>
        </p:txBody>
      </p:sp>
      <p:sp>
        <p:nvSpPr>
          <p:cNvPr id="6" name="editable 3">
            <a:extLst>
              <a:ext uri="{FF2B5EF4-FFF2-40B4-BE49-F238E27FC236}">
                <a16:creationId xmlns:a16="http://schemas.microsoft.com/office/drawing/2014/main" id="{5BCC28AC-5AAE-4331-8600-00DBB203E080}"/>
              </a:ext>
            </a:extLst>
          </p:cNvPr>
          <p:cNvSpPr txBox="1"/>
          <p:nvPr/>
        </p:nvSpPr>
        <p:spPr>
          <a:xfrm>
            <a:off x="731520" y="1983462"/>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make your own</a:t>
            </a:r>
          </a:p>
        </p:txBody>
      </p:sp>
      <p:sp>
        <p:nvSpPr>
          <p:cNvPr id="7" name="editable 4">
            <a:extLst>
              <a:ext uri="{FF2B5EF4-FFF2-40B4-BE49-F238E27FC236}">
                <a16:creationId xmlns:a16="http://schemas.microsoft.com/office/drawing/2014/main" id="{58D79024-A118-4BC9-A114-E57681DAA856}"/>
              </a:ext>
            </a:extLst>
          </p:cNvPr>
          <p:cNvSpPr txBox="1"/>
          <p:nvPr/>
        </p:nvSpPr>
        <p:spPr>
          <a:xfrm>
            <a:off x="731520" y="296108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plant your own memories and discover their connections.</a:t>
            </a:r>
          </a:p>
        </p:txBody>
      </p:sp>
      <p:sp>
        <p:nvSpPr>
          <p:cNvPr id="8" name="editable 5">
            <a:extLst>
              <a:ext uri="{FF2B5EF4-FFF2-40B4-BE49-F238E27FC236}">
                <a16:creationId xmlns:a16="http://schemas.microsoft.com/office/drawing/2014/main" id="{4CC79E39-2A41-400E-A457-1218C66FB76B}"/>
              </a:ext>
            </a:extLst>
          </p:cNvPr>
          <p:cNvSpPr txBox="1"/>
          <p:nvPr/>
        </p:nvSpPr>
        <p:spPr>
          <a:xfrm>
            <a:off x="731520" y="3760708"/>
            <a:ext cx="65" cy="276999"/>
          </a:xfrm>
          <a:prstGeom prst="rect">
            <a:avLst/>
          </a:prstGeom>
          <a:noFill/>
        </p:spPr>
        <p:txBody>
          <a:bodyPr vert="horz" wrap="none" lIns="0" tIns="0" rIns="0" bIns="0" rtlCol="0" anchor="t">
            <a:noAutofit/>
          </a:bodyPr>
          <a:lstStyle/>
          <a:p>
            <a:r>
              <a:rPr lang="en-GB">
                <a:solidFill>
                  <a:srgbClr val="F2EDE3"/>
                </a:solidFill>
                <a:latin typeface="Segoe UI" panose="020B0502040204020203" pitchFamily="34" charset="0"/>
              </a:rPr>
              <a:t>each flower grows from a stable identity</a:t>
            </a:r>
          </a:p>
        </p:txBody>
      </p:sp>
      <p:sp>
        <p:nvSpPr>
          <p:cNvPr id="9" name="editable 6">
            <a:extLst>
              <a:ext uri="{FF2B5EF4-FFF2-40B4-BE49-F238E27FC236}">
                <a16:creationId xmlns:a16="http://schemas.microsoft.com/office/drawing/2014/main" id="{E6FA5ABF-1120-4B38-A97D-403C4F7B524D}"/>
              </a:ext>
            </a:extLst>
          </p:cNvPr>
          <p:cNvSpPr txBox="1"/>
          <p:nvPr/>
        </p:nvSpPr>
        <p:spPr>
          <a:xfrm>
            <a:off x="731520" y="4263628"/>
            <a:ext cx="65" cy="276999"/>
          </a:xfrm>
          <a:prstGeom prst="rect">
            <a:avLst/>
          </a:prstGeom>
          <a:noFill/>
        </p:spPr>
        <p:txBody>
          <a:bodyPr vert="horz" wrap="none" lIns="0" tIns="0" rIns="0" bIns="0" rtlCol="0" anchor="t">
            <a:noAutofit/>
          </a:bodyPr>
          <a:lstStyle/>
          <a:p>
            <a:r>
              <a:rPr lang="en-GB">
                <a:solidFill>
                  <a:srgbClr val="F2EDE3"/>
                </a:solidFill>
                <a:latin typeface="Segoe UI" panose="020B0502040204020203" pitchFamily="34" charset="0"/>
              </a:rPr>
              <a:t>shared people and places create relationships</a:t>
            </a:r>
          </a:p>
        </p:txBody>
      </p:sp>
      <p:sp>
        <p:nvSpPr>
          <p:cNvPr id="10" name="editable 7">
            <a:extLst>
              <a:ext uri="{FF2B5EF4-FFF2-40B4-BE49-F238E27FC236}">
                <a16:creationId xmlns:a16="http://schemas.microsoft.com/office/drawing/2014/main" id="{20722161-FEAA-4785-BCE0-40B2E26F3E29}"/>
              </a:ext>
            </a:extLst>
          </p:cNvPr>
          <p:cNvSpPr txBox="1"/>
          <p:nvPr/>
        </p:nvSpPr>
        <p:spPr>
          <a:xfrm>
            <a:off x="731520" y="4766548"/>
            <a:ext cx="65" cy="276999"/>
          </a:xfrm>
          <a:prstGeom prst="rect">
            <a:avLst/>
          </a:prstGeom>
          <a:noFill/>
        </p:spPr>
        <p:txBody>
          <a:bodyPr vert="horz" wrap="none" lIns="0" tIns="0" rIns="0" bIns="0" rtlCol="0" anchor="t">
            <a:noAutofit/>
          </a:bodyPr>
          <a:lstStyle/>
          <a:p>
            <a:r>
              <a:rPr lang="en-GB">
                <a:solidFill>
                  <a:srgbClr val="F2EDE3"/>
                </a:solidFill>
                <a:latin typeface="Segoe UI" panose="020B0502040204020203" pitchFamily="34" charset="0"/>
              </a:rPr>
              <a:t>your personal garden lives in this browser</a:t>
            </a:r>
          </a:p>
        </p:txBody>
      </p:sp>
      <p:sp>
        <p:nvSpPr>
          <p:cNvPr id="11" name="editable 8">
            <a:extLst>
              <a:ext uri="{FF2B5EF4-FFF2-40B4-BE49-F238E27FC236}">
                <a16:creationId xmlns:a16="http://schemas.microsoft.com/office/drawing/2014/main" id="{C7AD12BE-5D7C-4E3A-A462-9867C87609C1}"/>
              </a:ext>
            </a:extLst>
          </p:cNvPr>
          <p:cNvSpPr txBox="1"/>
          <p:nvPr/>
        </p:nvSpPr>
        <p:spPr>
          <a:xfrm>
            <a:off x="731520" y="5841564"/>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planting works with local tagging. an optional provider can receive memory text and known entity names to improve suggestions.</a:t>
            </a:r>
          </a:p>
        </p:txBody>
      </p:sp>
    </p:spTree>
    <p:extLst>
      <p:ext uri="{BB962C8B-B14F-4D97-AF65-F5344CB8AC3E}">
        <p14:creationId xmlns:p14="http://schemas.microsoft.com/office/powerpoint/2010/main" val="2975001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67114B7A-4FE3-49D1-ACBD-D534EB9EFAC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3BC9126B-85D3-4CD7-97F2-FE2D6CDD3D24}"/>
              </a:ext>
            </a:extLst>
          </p:cNvPr>
          <p:cNvSpPr txBox="1"/>
          <p:nvPr/>
        </p:nvSpPr>
        <p:spPr>
          <a:xfrm>
            <a:off x="731520" y="96774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return to the memory you imagined</a:t>
            </a:r>
          </a:p>
        </p:txBody>
      </p:sp>
      <p:sp>
        <p:nvSpPr>
          <p:cNvPr id="5" name="editable 2">
            <a:extLst>
              <a:ext uri="{FF2B5EF4-FFF2-40B4-BE49-F238E27FC236}">
                <a16:creationId xmlns:a16="http://schemas.microsoft.com/office/drawing/2014/main" id="{00FEBFD1-86AA-468B-8E06-2A1B5D9EC981}"/>
              </a:ext>
            </a:extLst>
          </p:cNvPr>
          <p:cNvSpPr txBox="1"/>
          <p:nvPr/>
        </p:nvSpPr>
        <p:spPr>
          <a:xfrm>
            <a:off x="731520" y="1379220"/>
            <a:ext cx="65" cy="276999"/>
          </a:xfrm>
          <a:prstGeom prst="rect">
            <a:avLst/>
          </a:prstGeom>
          <a:noFill/>
        </p:spPr>
        <p:txBody>
          <a:bodyPr vert="horz" wrap="none" lIns="0" tIns="0" rIns="0" bIns="0" rtlCol="0" anchor="t">
            <a:noAutofit/>
          </a:bodyPr>
          <a:lstStyle/>
          <a:p>
            <a:r>
              <a:rPr lang="en-GB" sz="6120" spc="-120">
                <a:solidFill>
                  <a:srgbClr val="F2EDE3"/>
                </a:solidFill>
                <a:latin typeface="Georgia" panose="02040502050405020303" pitchFamily="18" charset="0"/>
              </a:rPr>
              <a:t>you cannot keep every</a:t>
            </a:r>
          </a:p>
        </p:txBody>
      </p:sp>
      <p:sp>
        <p:nvSpPr>
          <p:cNvPr id="6" name="editable 3">
            <a:extLst>
              <a:ext uri="{FF2B5EF4-FFF2-40B4-BE49-F238E27FC236}">
                <a16:creationId xmlns:a16="http://schemas.microsoft.com/office/drawing/2014/main" id="{ED64AAD1-CC4D-4C85-8F77-B88CF6541AB1}"/>
              </a:ext>
            </a:extLst>
          </p:cNvPr>
          <p:cNvSpPr txBox="1"/>
          <p:nvPr/>
        </p:nvSpPr>
        <p:spPr>
          <a:xfrm>
            <a:off x="731520" y="2280761"/>
            <a:ext cx="65" cy="276999"/>
          </a:xfrm>
          <a:prstGeom prst="rect">
            <a:avLst/>
          </a:prstGeom>
          <a:noFill/>
        </p:spPr>
        <p:txBody>
          <a:bodyPr vert="horz" wrap="none" lIns="0" tIns="0" rIns="0" bIns="0" rtlCol="0" anchor="t">
            <a:noAutofit/>
          </a:bodyPr>
          <a:lstStyle/>
          <a:p>
            <a:r>
              <a:rPr lang="en-GB" sz="6120" spc="-120">
                <a:solidFill>
                  <a:srgbClr val="F2EDE3"/>
                </a:solidFill>
                <a:latin typeface="Georgia" panose="02040502050405020303" pitchFamily="18" charset="0"/>
              </a:rPr>
              <a:t>moment in bloom</a:t>
            </a:r>
          </a:p>
        </p:txBody>
      </p:sp>
      <p:sp>
        <p:nvSpPr>
          <p:cNvPr id="7" name="editable 4">
            <a:extLst>
              <a:ext uri="{FF2B5EF4-FFF2-40B4-BE49-F238E27FC236}">
                <a16:creationId xmlns:a16="http://schemas.microsoft.com/office/drawing/2014/main" id="{42C67AF0-DF43-4829-B733-B5FC5CE042BE}"/>
              </a:ext>
            </a:extLst>
          </p:cNvPr>
          <p:cNvSpPr txBox="1"/>
          <p:nvPr/>
        </p:nvSpPr>
        <p:spPr>
          <a:xfrm>
            <a:off x="731520" y="3517583"/>
            <a:ext cx="65" cy="276999"/>
          </a:xfrm>
          <a:prstGeom prst="rect">
            <a:avLst/>
          </a:prstGeom>
          <a:noFill/>
        </p:spPr>
        <p:txBody>
          <a:bodyPr vert="horz" wrap="none" lIns="0" tIns="0" rIns="0" bIns="0" rtlCol="0" anchor="t">
            <a:noAutofit/>
          </a:bodyPr>
          <a:lstStyle/>
          <a:p>
            <a:r>
              <a:rPr lang="en-GB" sz="2700">
                <a:solidFill>
                  <a:srgbClr val="F1CE94"/>
                </a:solidFill>
                <a:latin typeface="Georgia" panose="02040502050405020303" pitchFamily="18" charset="0"/>
              </a:rPr>
              <a:t>what you tend gives the garden its shape</a:t>
            </a:r>
          </a:p>
        </p:txBody>
      </p:sp>
      <p:sp>
        <p:nvSpPr>
          <p:cNvPr id="8" name="editable 5">
            <a:extLst>
              <a:ext uri="{FF2B5EF4-FFF2-40B4-BE49-F238E27FC236}">
                <a16:creationId xmlns:a16="http://schemas.microsoft.com/office/drawing/2014/main" id="{2512BFAC-7277-41F7-8E8F-4167D61B49D2}"/>
              </a:ext>
            </a:extLst>
          </p:cNvPr>
          <p:cNvSpPr txBox="1"/>
          <p:nvPr/>
        </p:nvSpPr>
        <p:spPr>
          <a:xfrm>
            <a:off x="731520" y="4207192"/>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what would your garden carry?</a:t>
            </a:r>
          </a:p>
        </p:txBody>
      </p:sp>
      <p:sp>
        <p:nvSpPr>
          <p:cNvPr id="9" name="editable 6">
            <a:hlinkClick r:id="rId4"/>
            <a:extLst>
              <a:ext uri="{FF2B5EF4-FFF2-40B4-BE49-F238E27FC236}">
                <a16:creationId xmlns:a16="http://schemas.microsoft.com/office/drawing/2014/main" id="{C611CECE-5839-45A2-BA8A-C1FCB29174F0}"/>
              </a:ext>
            </a:extLst>
          </p:cNvPr>
          <p:cNvSpPr txBox="1"/>
          <p:nvPr/>
        </p:nvSpPr>
        <p:spPr>
          <a:xfrm>
            <a:off x="952500" y="4938713"/>
            <a:ext cx="65" cy="276999"/>
          </a:xfrm>
          <a:prstGeom prst="rect">
            <a:avLst/>
          </a:prstGeom>
          <a:noFill/>
        </p:spPr>
        <p:txBody>
          <a:bodyPr vert="horz" wrap="none" lIns="0" tIns="0" rIns="0" bIns="0" rtlCol="0" anchor="t">
            <a:noAutofit/>
          </a:bodyPr>
          <a:lstStyle/>
          <a:p>
            <a:r>
              <a:rPr lang="en-GB" sz="1620">
                <a:solidFill>
                  <a:srgbClr val="F1CE94"/>
                </a:solidFill>
                <a:latin typeface="Segoe UI" panose="020B0502040204020203" pitchFamily="34" charset="0"/>
              </a:rPr>
              <a:t>plant a memory</a:t>
            </a:r>
          </a:p>
        </p:txBody>
      </p:sp>
      <p:sp>
        <p:nvSpPr>
          <p:cNvPr id="10" name="editable 7">
            <a:extLst>
              <a:ext uri="{FF2B5EF4-FFF2-40B4-BE49-F238E27FC236}">
                <a16:creationId xmlns:a16="http://schemas.microsoft.com/office/drawing/2014/main" id="{2872F70C-8A21-43A7-9DE1-1B8A3B506B63}"/>
              </a:ext>
            </a:extLst>
          </p:cNvPr>
          <p:cNvSpPr txBox="1"/>
          <p:nvPr/>
        </p:nvSpPr>
        <p:spPr>
          <a:xfrm>
            <a:off x="731520" y="5540692"/>
            <a:ext cx="65" cy="276999"/>
          </a:xfrm>
          <a:prstGeom prst="rect">
            <a:avLst/>
          </a:prstGeom>
          <a:noFill/>
        </p:spPr>
        <p:txBody>
          <a:bodyPr vert="horz" wrap="none" lIns="0" tIns="0" rIns="0" bIns="0" rtlCol="0" anchor="t">
            <a:noAutofit/>
          </a:bodyPr>
          <a:lstStyle/>
          <a:p>
            <a:r>
              <a:rPr lang="en-GB" sz="1380">
                <a:solidFill>
                  <a:srgbClr val="F2EDE3"/>
                </a:solidFill>
                <a:latin typeface="Segoe UI" panose="020B0502040204020203" pitchFamily="34" charset="0"/>
              </a:rPr>
              <a:t>if this stayed with you, i would appreciate your vote.</a:t>
            </a:r>
          </a:p>
        </p:txBody>
      </p:sp>
      <p:sp>
        <p:nvSpPr>
          <p:cNvPr id="11" name="editable 8">
            <a:hlinkClick r:id="rId4"/>
            <a:extLst>
              <a:ext uri="{FF2B5EF4-FFF2-40B4-BE49-F238E27FC236}">
                <a16:creationId xmlns:a16="http://schemas.microsoft.com/office/drawing/2014/main" id="{A17F79ED-B807-4A29-8767-26EC273108F8}"/>
              </a:ext>
            </a:extLst>
          </p:cNvPr>
          <p:cNvSpPr txBox="1"/>
          <p:nvPr/>
        </p:nvSpPr>
        <p:spPr>
          <a:xfrm>
            <a:off x="731520" y="5975033"/>
            <a:ext cx="65" cy="276999"/>
          </a:xfrm>
          <a:prstGeom prst="rect">
            <a:avLst/>
          </a:prstGeom>
          <a:noFill/>
        </p:spPr>
        <p:txBody>
          <a:bodyPr vert="horz" wrap="none" lIns="0" tIns="0" rIns="0" bIns="0" rtlCol="0" anchor="t">
            <a:noAutofit/>
          </a:bodyPr>
          <a:lstStyle/>
          <a:p>
            <a:r>
              <a:rPr lang="en-GB" sz="1320">
                <a:solidFill>
                  <a:srgbClr val="AAB3C3"/>
                </a:solidFill>
                <a:latin typeface="Segoe UI" panose="020B0502040204020203" pitchFamily="34" charset="0"/>
              </a:rPr>
              <a:t>lethe-nine.vercel.app</a:t>
            </a:r>
          </a:p>
        </p:txBody>
      </p:sp>
    </p:spTree>
    <p:extLst>
      <p:ext uri="{BB962C8B-B14F-4D97-AF65-F5344CB8AC3E}">
        <p14:creationId xmlns:p14="http://schemas.microsoft.com/office/powerpoint/2010/main" val="917402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1702</Words>
  <Application>Microsoft Office PowerPoint</Application>
  <PresentationFormat>Custom</PresentationFormat>
  <Paragraphs>182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Shiro</dc:creator>
  <cp:lastModifiedBy>Shiro</cp:lastModifiedBy>
  <cp:revision>1</cp:revision>
  <dcterms:created xsi:type="dcterms:W3CDTF">2026-10-13T05:46:31Z</dcterms:created>
  <dcterms:modified xsi:type="dcterms:W3CDTF">2026-10-13T05:46:31Z</dcterms:modified>
</cp:coreProperties>
</file>